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F7C99C"/>
                </a:solidFill>
                <a:latin typeface="Calibri"/>
                <a:ea typeface="맑은 고딕"/>
              </a:rPr>
              <a:t>FAST '26 Paper Seminar</a:t>
            </a:r>
          </a:p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  <a:ea typeface="맑은 고딕"/>
              </a:rPr>
              <a:t>Bidaw: Enhancing Key-Value Caching for</a:t>
            </a:r>
          </a:p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  <a:ea typeface="맑은 고딕"/>
              </a:rPr>
              <a:t>Interactive LLM Serving via</a:t>
            </a:r>
          </a:p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  <a:ea typeface="맑은 고딕"/>
              </a:rPr>
              <a:t>Bidirectional Computation–Storage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28655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E6EEFA"/>
                </a:solidFill>
                <a:latin typeface="Calibri"/>
                <a:ea typeface="맑은 고딕"/>
              </a:rPr>
              <a:t>Shipeng Hu, Guangyan Zhang (Tsinghua) · Yuqi Zhou (CUGB) · </a:t>
            </a:r>
          </a:p>
          <a:p>
            <a:pPr algn="l">
              <a:spcAft>
                <a:spcPts val="1800"/>
              </a:spcAft>
            </a:pPr>
            <a:r>
              <a:rPr sz="1600" b="0" i="0">
                <a:solidFill>
                  <a:srgbClr val="E6EEFA"/>
                </a:solidFill>
                <a:latin typeface="Calibri"/>
                <a:ea typeface="맑은 고딕"/>
              </a:rPr>
              <a:t>Yaya Wei, Ziyan Zhong (China Telecom) · Jike Chen (Tsinghua)</a:t>
            </a:r>
          </a:p>
          <a:p>
            <a:pPr algn="l">
              <a:spcAft>
                <a:spcPts val="200"/>
              </a:spcAft>
            </a:pPr>
            <a:r>
              <a:rPr sz="1400" b="0" i="1">
                <a:solidFill>
                  <a:srgbClr val="C0CFE8"/>
                </a:solidFill>
                <a:latin typeface="Calibri"/>
                <a:ea typeface="맑은 고딕"/>
              </a:rPr>
              <a:t>24th USENIX Conference on File and Storage Technologies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CFE8"/>
                </a:solidFill>
                <a:latin typeface="Calibri"/>
                <a:ea typeface="맑은 고딕"/>
              </a:rPr>
              <a:t>February 24–26, 2026 · Santa Clara, 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728655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DB1D1"/>
                </a:solidFill>
                <a:latin typeface="Calibri"/>
                <a:ea typeface="맑은 고딕"/>
              </a:rPr>
              <a:t>발표자: ____________   ·   세미나 일시: 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AGENDA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발표 순서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143000"/>
            <a:ext cx="457200" cy="457200"/>
          </a:xfrm>
          <a:prstGeom prst="ellipse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097280"/>
            <a:ext cx="100584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  <a:ea typeface="맑은 고딕"/>
              </a:rPr>
              <a:t>Background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Interactive LLM serving과 KV cache의 역할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737360"/>
            <a:ext cx="457200" cy="457200"/>
          </a:xfrm>
          <a:prstGeom prst="ellipse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691640"/>
            <a:ext cx="100584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  <a:ea typeface="맑은 고딕"/>
              </a:rPr>
              <a:t>Motivation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KV loading 병목, 그리고 세 가지 워크로드 관찰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31720"/>
            <a:ext cx="457200" cy="457200"/>
          </a:xfrm>
          <a:prstGeom prst="ellipse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맑은 고딕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286000"/>
            <a:ext cx="100584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  <a:ea typeface="맑은 고딕"/>
              </a:rPr>
              <a:t>Key Idea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Bidirectional computation–storage awareness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926080"/>
            <a:ext cx="457200" cy="457200"/>
          </a:xfrm>
          <a:prstGeom prst="ellipse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맑은 고딕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0584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  <a:ea typeface="맑은 고딕"/>
              </a:rPr>
              <a:t>Mechanism 1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I/O-aware request scheduling (compute side)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520440"/>
            <a:ext cx="457200" cy="457200"/>
          </a:xfrm>
          <a:prstGeom prst="ellipse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맑은 고딕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474720"/>
            <a:ext cx="100584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  <a:ea typeface="맑은 고딕"/>
              </a:rPr>
              <a:t>Mechanism 2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Previous-answer-based eviction (storage side)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맑은 고딕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069080"/>
            <a:ext cx="100584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  <a:ea typeface="맑은 고딕"/>
              </a:rPr>
              <a:t>Mechanism 3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Storage-efficient tensor caching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709160"/>
            <a:ext cx="457200" cy="457200"/>
          </a:xfrm>
          <a:prstGeom prst="ellipse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맑은 고딕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663440"/>
            <a:ext cx="100584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  <a:ea typeface="맑은 고딕"/>
              </a:rPr>
              <a:t>Evaluation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5개 모델 · 50분간 토크의 핵심 plot 7개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03520"/>
            <a:ext cx="457200" cy="457200"/>
          </a:xfrm>
          <a:prstGeom prst="ellipse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맑은 고딕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257800"/>
            <a:ext cx="100584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  <a:ea typeface="맑은 고딕"/>
              </a:rPr>
              <a:t>Discussion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한계, 일반화 가능성, takeaway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Interactive LLM serving — 멀티 라운드 대화 패턴</a:t>
            </a:r>
          </a:p>
        </p:txBody>
      </p:sp>
      <p:pic>
        <p:nvPicPr>
          <p:cNvPr id="4" name="Picture 3" descr="figur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16325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2866978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1. 각 라운드의 답변은 이전 라운드들의 KV tensor에 의존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사례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Replika · Duolingo · 고객 응대 챗봇처럼 사용자가 LLM과 번갈아 대화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한 사용자가 평균 22.4 라운드, 중간값 18, P90 = 45 라운드까지 진행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사용자별 대화 지속 시간은 평균 분 단위, 길게는 60분 이상도 발생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기술적 핵심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라운드 N의 응답은 라운드 0..N-1의 모든 KV tensor를 다시 attention 입력으로 사용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이 KV를 재계산하면 GPU FLOPs를 매번 다시 태움 → caching이 필수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KV cache의 역할 — attention 재계산을 막는 핵심 자료구조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280160"/>
            <a:ext cx="5303520" cy="43891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0" y="1463040"/>
            <a:ext cx="4937760" cy="4023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Self-attention(요점)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222222"/>
                </a:solidFill>
                <a:latin typeface="Consolas"/>
                <a:ea typeface="맑은 고딕"/>
              </a:rPr>
              <a:t>Attention(Q, K, V) = softmax(Q · Kᵀ / √d) · V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새 토큰 1개의 Q만 새로 계산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과거 토큰의 K, V는 변하지 않음 → </a:t>
            </a: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재사용 가능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B6B"/>
                </a:solidFill>
                <a:latin typeface="Calibri"/>
                <a:ea typeface="맑은 고딕"/>
              </a:rPr>
              <a:t>토큰 t개 · 레이어 L · 헤드 h · head_dim d 일 때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onsolas"/>
                <a:ea typeface="맑은 고딕"/>
              </a:rPr>
              <a:t>KV size = 2 · t · L · h · d · sizeof(dtype)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6B6B6B"/>
                </a:solidFill>
                <a:latin typeface="Calibri"/>
                <a:ea typeface="맑은 고딕"/>
              </a:rPr>
              <a:t>예: OPT-13B, 2,048 토큰 → 약 0.78 GB /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85216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왜 KV cache 인가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재계산을 안 하면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응답 latency가 곧바로 줄어든다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저장 비용이 매우 큼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→ 효율적 관리가 시스템 설계의 1번 과제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• 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vLLM, PagedAttention 류 가속 시스템도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결국 KV cache 관리가 핵심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이번 논문의 KV는?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한 사용자의 </a:t>
            </a: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여러 라운드 대화 KV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를 보존 — cross-user KV 공유는 범위 밖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왜 GPU 메모리에 다 못 두는가</a:t>
            </a:r>
          </a:p>
        </p:txBody>
      </p:sp>
      <p:pic>
        <p:nvPicPr>
          <p:cNvPr id="4" name="Picture 3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306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4297012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5. 사용자 도착률 vs 동시 캐시 KV 총량 (perf layer 200GB 기준)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80GB A800 GPU 1장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→ Attention KV가 곧바로 GPU 메모리를 잡아먹음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사용자 30명/분 도착 시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OPT-13B에서 동시 캐시 KV가 480GB까지 증가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일반적인 LLM 서버의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host memory(perf layer)는 약 1.6×–3.2× of GPU memory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• 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따라서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host memory도 부족 → SSD(capacity layer)까지 사용해야 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512064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  <a:ea typeface="맑은 고딕"/>
              </a:rPr>
              <a:t>동시 캐시 KV는 perf layer를 </a:t>
            </a:r>
            <a:r>
              <a:rPr sz="2200" b="1" i="0">
                <a:solidFill>
                  <a:srgbClr val="E86A33"/>
                </a:solidFill>
                <a:latin typeface="Calibri"/>
                <a:ea typeface="맑은 고딕"/>
              </a:rPr>
              <a:t>최대 3.91×</a:t>
            </a:r>
            <a:r>
              <a:rPr sz="1600" b="0" i="0">
                <a:solidFill>
                  <a:srgbClr val="222222"/>
                </a:solidFill>
                <a:latin typeface="Calibri"/>
                <a:ea typeface="맑은 고딕"/>
              </a:rPr>
              <a:t> 초과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6B6B6B"/>
                </a:solidFill>
                <a:latin typeface="Calibri"/>
                <a:ea typeface="맑은 고딕"/>
              </a:rPr>
              <a:t>→ 2-tier (host memory + SSD) 캐싱이 필연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기존 솔루션 — Two-tier storage caching</a:t>
            </a:r>
          </a:p>
        </p:txBody>
      </p:sp>
      <p:pic>
        <p:nvPicPr>
          <p:cNvPr id="4" name="Picture 3" descr="figur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8628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097331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2. Compute engine ↔ two-tier storage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188720"/>
            <a:ext cx="429768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Performance layer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  <a:ea typeface="맑은 고딕"/>
              </a:rPr>
              <a:t>Host DRAM, 빠르지만 용량 한정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Capacity layer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  <a:ea typeface="맑은 고딕"/>
              </a:rPr>
              <a:t>SSD (RAID-5, 본 논문은 1.5 GB/s)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대표 선행 시스템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CachedAttention</a:t>
            </a:r>
            <a:r>
              <a:rPr sz="1200" b="0" i="0">
                <a:solidFill>
                  <a:srgbClr val="6B6B6B"/>
                </a:solidFill>
                <a:latin typeface="Calibri"/>
                <a:ea typeface="맑은 고딕"/>
              </a:rPr>
              <a:t>  [ATC ’24] queue-enhanced LRU eviction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FlashGen</a:t>
            </a:r>
            <a:r>
              <a:rPr sz="1200" b="0" i="0">
                <a:solidFill>
                  <a:srgbClr val="6B6B6B"/>
                </a:solidFill>
                <a:latin typeface="Calibri"/>
                <a:ea typeface="맑은 고딕"/>
              </a:rPr>
              <a:t>  [FAST ’25]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HCache</a:t>
            </a:r>
            <a:r>
              <a:rPr sz="1200" b="0" i="0">
                <a:solidFill>
                  <a:srgbClr val="6B6B6B"/>
                </a:solidFill>
                <a:latin typeface="Calibri"/>
                <a:ea typeface="맑은 고딕"/>
              </a:rPr>
              <a:t>  [EuroSys ’25] intermediate activation 캐싱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212080"/>
            <a:ext cx="6858000" cy="1188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64922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쓰기는 백그라운드, 그러나 읽기(load)는 </a:t>
            </a: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critical path 위에 놓여 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그러나 KV loading 자체가 병목 — 이상치와의 큰 격차</a:t>
            </a:r>
          </a:p>
        </p:txBody>
      </p:sp>
      <p:pic>
        <p:nvPicPr>
          <p:cNvPr id="4" name="Picture 3" descr="figur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349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732184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3. KV recompute / 기존 cache / Ideal cache 의 latency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측정 환경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  <a:ea typeface="맑은 고딕"/>
              </a:rPr>
              <a:t>OPT-13B · A800 80GB · 200GB host · 1.5 GB/s SSD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성능 격차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응답 latency가 </a:t>
            </a: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최대 3.8× 증가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throughput은 </a:t>
            </a: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최대 2.0× 감소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Ideal vs reality?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  <a:ea typeface="맑은 고딕"/>
              </a:rPr>
              <a:t>Ideal = 모든 KV가 perf layer에 있다고 가정한 동일 시스템.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1F3A68"/>
                </a:solidFill>
                <a:latin typeface="Calibri"/>
                <a:ea typeface="맑은 고딕"/>
              </a:rPr>
              <a:t>이 격차의 원인을 분석하는 것이 본 논문의 출발점이다.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워크로드 — 백만 라운드 실서비스 인터랙티브 대화 trace</a:t>
            </a:r>
          </a:p>
        </p:txBody>
      </p:sp>
      <p:pic>
        <p:nvPicPr>
          <p:cNvPr id="4" name="Picture 3" descr="figur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26693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903797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4. (a) 사용자별 대화 지속시간, (b) 라운드 수 CDF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Trace 출처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  <a:ea typeface="맑은 고딕"/>
              </a:rPr>
              <a:t>China Telecom omni-channel — 1M+ 라운드, 사용자 단위 timestamp 보존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ShareGPT vs Mooncake와의 차이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ShareGPT: 평균 5.7 라운드 — 인터랙티브 대화 분석에 부족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Mooncake: query 12k+ 토큰 — 길지만 대화 패턴은 부재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본 trace: 라운드 수 22.4 / 토큰 길이 36 — “interactive” 정의에 부합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이어지는 세 슬라이드에서 </a:t>
            </a: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Observation 1 / 2 / 3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을 차례로 살펴본다.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Observation 1 — 동시 캐시 KV 양이 perf layer를 크게 초과</a:t>
            </a:r>
          </a:p>
        </p:txBody>
      </p:sp>
      <p:pic>
        <p:nvPicPr>
          <p:cNvPr id="4" name="Picture 3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38889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214861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5. 사용자 도착률 vs 동시 캐시 KV 총량 / 동시 사용자 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관찰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사용자는 평균 22.4 라운드 동안 KV가 살아있어야 함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도착률이 늘면 동시 사용자 수가 선형 증가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OPT-13B에서 30 users/min일 때 480 GB &gt; 200 GB perf layer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함의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perf layer가 아무리 크더라도 곧 한계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eviction을 잘 하지 못하면 capacity layer로 자주 fallback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Observation 2 — KV access의 temporal locality가 매우 약함</a:t>
            </a:r>
          </a:p>
        </p:txBody>
      </p:sp>
      <p:pic>
        <p:nvPicPr>
          <p:cNvPr id="4" name="Picture 3" descr="figur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2619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9454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6. (a) Weighted reuse distance CDF, (b) hit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Weighted reuse distance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두 access 사이에 접근된 </a:t>
            </a:r>
            <a:r>
              <a:rPr sz="1200" b="1" i="0">
                <a:solidFill>
                  <a:srgbClr val="222222"/>
                </a:solidFill>
                <a:latin typeface="Calibri"/>
                <a:ea typeface="맑은 고딕"/>
              </a:rPr>
              <a:t>다른 KV의 총 크기 합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수치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80%의 KV access 가 </a:t>
            </a:r>
            <a:r>
              <a:rPr sz="1200" b="1" i="0">
                <a:solidFill>
                  <a:srgbClr val="222222"/>
                </a:solidFill>
                <a:latin typeface="Calibri"/>
                <a:ea typeface="맑은 고딕"/>
              </a:rPr>
              <a:t>perf layer (200GB)를 초과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FIFO/LRU/queue-enhanced 모두 </a:t>
            </a:r>
            <a:r>
              <a:rPr sz="1200" b="1" i="0">
                <a:solidFill>
                  <a:srgbClr val="222222"/>
                </a:solidFill>
                <a:latin typeface="Calibri"/>
                <a:ea typeface="맑은 고딕"/>
              </a:rPr>
              <a:t>hit rate ≈ 20% 수준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perf layer가 </a:t>
            </a:r>
            <a:r>
              <a:rPr sz="1200" b="1" i="0">
                <a:solidFill>
                  <a:srgbClr val="222222"/>
                </a:solidFill>
                <a:latin typeface="Calibri"/>
                <a:ea typeface="맑은 고딕"/>
              </a:rPr>
              <a:t>전체 KV의 40.1%를 담을 수 있음에도 hit는 절반 수준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→ 사용자가 다음 질문을 “생각하는 시간” 동안 </a:t>
            </a:r>
            <a:r>
              <a:rPr sz="1200" b="0" i="1">
                <a:solidFill>
                  <a:srgbClr val="6B6B6B"/>
                </a:solidFill>
                <a:latin typeface="Calibri"/>
                <a:ea typeface="맑은 고딕"/>
              </a:rPr>
              <a:t>다른 사용자 요청이 끼어들기 때문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Observation 3 — KV loading 시간 분산이 매우 큼</a:t>
            </a:r>
          </a:p>
        </p:txBody>
      </p:sp>
      <p:pic>
        <p:nvPicPr>
          <p:cNvPr id="4" name="Picture 3" descr="figur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02" y="1280160"/>
            <a:ext cx="5660916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703320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7. 시간 구간별 KV loading time의 변동계수 CV</a:t>
            </a:r>
          </a:p>
        </p:txBody>
      </p:sp>
      <p:pic>
        <p:nvPicPr>
          <p:cNvPr id="6" name="Picture 5" descr="figur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837" y="3931920"/>
            <a:ext cx="5467446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55080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8. Loaded KV 크기 분포 (히스토그램)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왜 분산이 큰가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두 layer 의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bandwidth 격차 (host DRAM ↔ SSD)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요청별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KV size 자체가 매우 다름 (수십 MB ~ 수백 MB)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심지어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5초 윈도우 내에서도 CV &gt; 90% — globally 균일화되지 않음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함의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한 요청의 큰 KV가 도착할 때, </a:t>
            </a: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뒤따르는 작은 KV 요청까지 모두 GPU idle 상태로 만든다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ROOT CAUSE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Root cause — compute engine과 storage가 서로 unaware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2560320"/>
          </a:xfrm>
          <a:prstGeom prst="rect">
            <a:avLst/>
          </a:prstGeom>
          <a:solidFill>
            <a:srgbClr val="F2F4F8"/>
          </a:solidFill>
          <a:ln w="9525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문제 1. Compute engine은 storage I/O latency를 모른다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어떤 요청의 KV가 perf layer에 있는지, capacity layer에 있는지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어떤 요청의 KV size가 큰지 vs 작은지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E86A33"/>
                </a:solidFill>
                <a:latin typeface="Calibri"/>
                <a:ea typeface="맑은 고딕"/>
              </a:rPr>
              <a:t>→ 그냥 FCFS로 dispatch → 큰 I/O가 큐 머리에 박히면 GPU idle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486400" cy="2560320"/>
          </a:xfrm>
          <a:prstGeom prst="rect">
            <a:avLst/>
          </a:prstGeom>
          <a:solidFill>
            <a:srgbClr val="F2F4F8"/>
          </a:solidFill>
          <a:ln w="9525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문제 2. Storage는 사용자 대화 패턴을 모른다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Eviction은 자기 측의 KV access history만 사용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▸ 사용자의 다음 질문 timing은 compute가 만든 답변 길이에 좌우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E86A33"/>
                </a:solidFill>
                <a:latin typeface="Calibri"/>
                <a:ea typeface="맑은 고딕"/>
              </a:rPr>
              <a:t>→ 정보 부재로 인해 hit rate ≈ 20% 수준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972800" cy="2011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  <a:ea typeface="맑은 고딕"/>
              </a:rPr>
              <a:t>문제는 둘 다 </a:t>
            </a:r>
            <a:r>
              <a:rPr sz="1800" b="1" i="0">
                <a:solidFill>
                  <a:srgbClr val="FFCC99"/>
                </a:solidFill>
                <a:latin typeface="Calibri"/>
                <a:ea typeface="맑은 고딕"/>
              </a:rPr>
              <a:t>정보가 한쪽 방향으로만 흐르거나, 아예 흐르지 않는다는 것</a:t>
            </a:r>
          </a:p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E6EEFA"/>
                </a:solidFill>
                <a:latin typeface="Calibri"/>
                <a:ea typeface="맑은 고딕"/>
              </a:rPr>
              <a:t>Bidaw의 가설: </a:t>
            </a:r>
            <a:r>
              <a:rPr sz="1600" b="1" i="0">
                <a:solidFill>
                  <a:srgbClr val="FFFFFF"/>
                </a:solidFill>
                <a:latin typeface="Calibri"/>
                <a:ea typeface="맑은 고딕"/>
              </a:rPr>
              <a:t>두 방향 모두 정보를 흐르게 하면 두 문제 모두 해결된다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KEY IDEA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핵심 아이디어 — Bidirectional awareness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4937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Compute → Storage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이전 라운드의 </a:t>
            </a: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model answer 길이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를 storage 측에 넘긴다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이 길이는 사용자의 다음 질문이 도착할 시점을 예측하는 신호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Storage는 이 신호로 next-access의 weighted reuse distance를 추정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추정 결과로 hit potential이 가장 낮은 KV를 evict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486400" cy="4937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120640" cy="4754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Storage → Compute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각 요청 KV의 </a:t>
            </a: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위치(layer)와 크기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를 compute 측에 넘긴다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Compute는 KV가 어디에 있고 얼마나 큰지를 알고 dispatch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두 개 큐(ready / preparing)로 I/O 길이를 결정성과 분리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GPU idle 시간을 제거하고 큐잉 지연을 줄임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시스템 개관 — 3개 컴포넌트 + 양방향 신호</a:t>
            </a:r>
          </a:p>
        </p:txBody>
      </p:sp>
      <p:pic>
        <p:nvPicPr>
          <p:cNvPr id="4" name="Picture 3" descr="figur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760720" cy="46566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91139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9. Bidaw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①  Scheduler  (§3.2)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  <a:ea typeface="맑은 고딕"/>
              </a:rPr>
              <a:t>Storage로부터 KV 위치와 크기를 받아 ready/preparing 큐로 분리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②  History Cacher  (§4)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  <a:ea typeface="맑은 고딕"/>
              </a:rPr>
              <a:t>GPU에서 생성된 history tensor 중 storage-efficient tensor만 캐시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③  Eviction Manager  (§3.3)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  <a:ea typeface="맑은 고딕"/>
              </a:rPr>
              <a:t>Compute가 넘긴 답변 길이로 reuse distance 추정 → hit potential 최저 KV 축출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E86A33"/>
                </a:solidFill>
                <a:latin typeface="Calibri"/>
                <a:ea typeface="맑은 고딕"/>
              </a:rPr>
              <a:t>Bidirectional 신호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Storage → Compute: KV location &amp; size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Compute → Storage: future access timing (=answer length)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End-to-end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640080" cy="100584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400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23444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68"/>
                </a:solidFill>
                <a:latin typeface="Calibri"/>
                <a:ea typeface="맑은 고딕"/>
              </a:rPr>
              <a:t>사용자 요청 도착 → Scheduler가 KV의 location/size를 storage에서 조회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  <a:ea typeface="맑은 고딕"/>
              </a:rPr>
              <a:t>→ Ready queue 또는 Preparing queue 로 dispatch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640080" cy="100584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6400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42316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68"/>
                </a:solidFill>
                <a:latin typeface="Calibri"/>
                <a:ea typeface="맑은 고딕"/>
              </a:rPr>
              <a:t>GPU가 inference 진행 중 생성한 storage-efficient tensor를 History Cacher가 캐싱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  <a:ea typeface="맑은 고딕"/>
              </a:rPr>
              <a:t>→ KV tensor 대신 더 작은 intermediate tensor를 저장 (MHA-only)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66160"/>
            <a:ext cx="640080" cy="100584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566160"/>
            <a:ext cx="6400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1188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68"/>
                </a:solidFill>
                <a:latin typeface="Calibri"/>
                <a:ea typeface="맑은 고딕"/>
              </a:rPr>
              <a:t>GPU 응답 완료 → 답변 토큰 길이를 Eviction Manager에게 전달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  <a:ea typeface="맑은 고딕"/>
              </a:rPr>
              <a:t>→ 다음 KV access의 reuse distance 분포 추정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54880"/>
            <a:ext cx="640080" cy="100584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754880"/>
            <a:ext cx="6400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80060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A68"/>
                </a:solidFill>
                <a:latin typeface="Calibri"/>
                <a:ea typeface="맑은 고딕"/>
              </a:rPr>
              <a:t>Free perf-layer 공간이 임계 미만이 되면 eviction 트리거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  <a:ea typeface="맑은 고딕"/>
              </a:rPr>
              <a:t>→ Hit potential 최저 KV를 capacity layer로 이동 (inclusive caching)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Mechanism 1 동기 — I/O blocking과 overlap의 한계</a:t>
            </a:r>
          </a:p>
        </p:txBody>
      </p:sp>
      <p:pic>
        <p:nvPicPr>
          <p:cNvPr id="4" name="Picture 3" descr="figur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22469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481347"/>
            <a:ext cx="6675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10. I/O-aware request scheduling 전략 개관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1188720"/>
            <a:ext cx="45720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왜 단순 overlap이 안 되는가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한 iteration의 GPU compute = 수십 ms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Capacity layer I/O = 수백 ms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다음 layer의 KV load와 overlap 해도 시간 차가 너무 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naive overlap은 “다음 토큰 1개를 기다리며 GPU가 또 idle”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  <a:ea typeface="맑은 고딕"/>
              </a:rPr>
              <a:t>설계 목표 — </a:t>
            </a:r>
            <a:r>
              <a:rPr sz="1600" b="0" i="0">
                <a:solidFill>
                  <a:srgbClr val="222222"/>
                </a:solidFill>
                <a:latin typeface="Calibri"/>
                <a:ea typeface="맑은 고딕"/>
              </a:rPr>
              <a:t>느린 I/O 요청이 빠른 I/O 요청을 막지 않게 하면서, </a:t>
            </a:r>
            <a:r>
              <a:rPr sz="1600" b="1" i="0">
                <a:solidFill>
                  <a:srgbClr val="E86A33"/>
                </a:solidFill>
                <a:latin typeface="Calibri"/>
                <a:ea typeface="맑은 고딕"/>
              </a:rPr>
              <a:t>큰 KV 요청도 starvation 없이 진행시킨다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I/O-aware scheduling — Dual queue + disk-HRRN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Dual queue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Ready queue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  <a:ea typeface="맑은 고딕"/>
              </a:rPr>
              <a:t>KV가 perf layer에 있는 요청 — FCFS, GPU에 즉시 dispatch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Preparing queue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  <a:ea typeface="맑은 고딕"/>
              </a:rPr>
              <a:t>KV가 capacity layer에 있는 요청 — 백그라운드로 perf layer로 끌어올림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promotion 시 </a:t>
            </a: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원래 도착 시각을 유지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해 tail latency 폭주를 방지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disk-HRRN  (preparing queue 정렬)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222222"/>
                </a:solidFill>
                <a:latin typeface="Consolas"/>
                <a:ea typeface="맑은 고딕"/>
              </a:rPr>
              <a:t>Response ratio = 1 + (Request waiting time) / (KV size)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작은 KV 요청을 먼저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→ ready queue로 빨리 promote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그러나 waiting time이 증가하면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큰 KV도 결국 promote (기아 방지)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classical HRRN을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I/O 시간 ≈ KV size 가정으로 변형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동작 예시 — GPU idle을 어떻게 없애는가</a:t>
            </a:r>
          </a:p>
        </p:txBody>
      </p:sp>
      <p:pic>
        <p:nvPicPr>
          <p:cNvPr id="4" name="Picture 3" descr="figur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581" y="1188720"/>
            <a:ext cx="610643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11. (a) FCFS vs (b) I/O-aware scheduling 의 timeline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(a) FCFS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req 1, 2 (큰 capacity-layer KV)가 머리에서 대기 →</a:t>
            </a:r>
          </a:p>
          <a:p>
            <a:pPr algn="l">
              <a:spcAft>
                <a:spcPts val="1000"/>
              </a:spcAft>
            </a:pPr>
            <a:r>
              <a:rPr sz="1300" b="0" i="1">
                <a:solidFill>
                  <a:srgbClr val="E86A33"/>
                </a:solidFill>
                <a:latin typeface="Calibri"/>
                <a:ea typeface="맑은 고딕"/>
              </a:rPr>
              <a:t>GPU와 perf-layer I/O 가 모두 idle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(b) I/O-aware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req 3, 4, 5 (perf-layer hit) 먼저 GPU로 → 그 사이 req 2 가 promote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큐잉 시간 평균 </a:t>
            </a: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5.76s → 2.45s (-57.5%)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Mechanism 2 핵심 관찰 — 답변 길이 ↔ 다음 reuse distance</a:t>
            </a:r>
          </a:p>
        </p:txBody>
      </p:sp>
      <p:pic>
        <p:nvPicPr>
          <p:cNvPr id="4" name="Picture 3" descr="figur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566" y="1188720"/>
            <a:ext cx="10060387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12. Hour 별로 답변 길이(가로축) vs 다음 KV access의 reuse distance(세로축). 빨간 라인 = 하한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4712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정의 — Weighted reuse distance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현재 access ↔ 다음 access 사이에 접근되는 다른 KV 의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총 byte 합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관찰 — 답변이 길수록 사용자가 다음 질문을 늦게 보낸다 → 그 사이 다른 사용자 KV가 끼어들어 reuse distance 하한이 </a:t>
            </a: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단조 증가 (Spearman ρ = 0.94 ~ 0.98)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그러나 큰 reuse distance 라고 무조건 미스가 아니다</a:t>
            </a:r>
          </a:p>
        </p:txBody>
      </p:sp>
      <p:pic>
        <p:nvPicPr>
          <p:cNvPr id="4" name="Picture 3" descr="figur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7781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012565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13. Reuse distance 구간별 hit rate (Optimal vs FIFO/LRU/Q-enh)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세 영역으로 분할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Small  (&lt; perf layer size)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  <a:ea typeface="맑은 고딕"/>
              </a:rPr>
              <a:t>어떤 정책이든 hit ≈ 1.0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Promising  (중간 영역)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  <a:ea typeface="맑은 고딕"/>
              </a:rPr>
              <a:t>Optimal(Belady)은 100% 가까이 유지하지만 LRU는 0~40% 수준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Extreme  (440 GB+)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  <a:ea typeface="맑은 고딕"/>
              </a:rPr>
              <a:t>Optimal도 hit ≈ 0 — eviction 후보 1순위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7132320" cy="18288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676656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교훈 — distance만 보고 evict하면 promising 구간을 잃는다.
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Optimal과의 격차를 좁히려면 </a:t>
            </a: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구간별 hit 확률을 모델링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해야 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Eviction 알고리즘 — Ghost cache + bucket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280160"/>
            <a:ext cx="502920" cy="502920"/>
          </a:xfrm>
          <a:prstGeom prst="ellipse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2588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Promising 영역을 m개 fine-grained bucket으로 분할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057400"/>
            <a:ext cx="502920" cy="502920"/>
          </a:xfrm>
          <a:prstGeom prst="ellipse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각 bucket의 hit rate를 ghost cache 위에서 Belady 시뮬레이션으로 측정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88036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사용자별 과거 KV access 분포로 다음 access가 각 bucket에 떨어질 확률을 추정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611880"/>
            <a:ext cx="502920" cy="502920"/>
          </a:xfrm>
          <a:prstGeom prst="ellipse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5760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Compute가 넘긴 답변 길이로 reuse distance 하한을 결정 → 더 작은 bucket의 확률을 0으로 truncate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89120"/>
            <a:ext cx="502920" cy="502920"/>
          </a:xfrm>
          <a:prstGeom prst="ellipse">
            <a:avLst/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맑은 고딕"/>
              </a:rPr>
              <a:t>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43484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Equation 2 로 overall hit potential 계산 → 가장 낮은 KV evict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Eviction 결정식 — Overall hit potential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222222"/>
                </a:solidFill>
                <a:latin typeface="Consolas"/>
                <a:ea typeface="맑은 고딕"/>
              </a:rPr>
              <a:t>Overall_potential = prob_small · 1.0  +  prob_extreme · 0.0  +  Σᵢ prob_promising(i) · hit_promising(i)</a:t>
            </a:r>
          </a:p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6B6B"/>
                </a:solidFill>
                <a:latin typeface="Calibri"/>
                <a:ea typeface="맑은 고딕"/>
              </a:rPr>
              <a:t>Equation (2). 가장 낮은 hit potential을 가진 KV를 evict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 </a:t>
            </a:r>
            <a:r>
              <a:rPr sz="1400" b="1" i="0">
                <a:solidFill>
                  <a:srgbClr val="1F3A68"/>
                </a:solidFill>
                <a:latin typeface="Consolas"/>
                <a:ea typeface="맑은 고딕"/>
              </a:rPr>
              <a:t>prob_small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다음 access가 perf layer 안쪽으로 들어옴 — hit 확률 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 </a:t>
            </a:r>
            <a:r>
              <a:rPr sz="1400" b="1" i="0">
                <a:solidFill>
                  <a:srgbClr val="1F3A68"/>
                </a:solidFill>
                <a:latin typeface="Consolas"/>
                <a:ea typeface="맑은 고딕"/>
              </a:rPr>
              <a:t>prob_promising(i)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promising bucket i 에 떨어질 확률 (m개)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 </a:t>
            </a:r>
            <a:r>
              <a:rPr sz="1400" b="1" i="0">
                <a:solidFill>
                  <a:srgbClr val="1F3A68"/>
                </a:solidFill>
                <a:latin typeface="Consolas"/>
                <a:ea typeface="맑은 고딕"/>
              </a:rPr>
              <a:t>hit_promising(i)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ghost cache의 Belady 시뮬레이션이 알려주는 i bucket의 hit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 </a:t>
            </a:r>
            <a:r>
              <a:rPr sz="1400" b="1" i="0">
                <a:solidFill>
                  <a:srgbClr val="1F3A68"/>
                </a:solidFill>
                <a:latin typeface="Consolas"/>
                <a:ea typeface="맑은 고딕"/>
              </a:rPr>
              <a:t>prob_extreme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perf layer로 영원히 안 돌아옴 — hit 확률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Note. Ghost cache는 백그라운드에서 Belady 시뮬레이션을 수행 — eviction 결정 단계에는 </a:t>
            </a:r>
            <a:r>
              <a:rPr sz="1200" b="1" i="0">
                <a:solidFill>
                  <a:srgbClr val="E86A33"/>
                </a:solidFill>
                <a:latin typeface="Calibri"/>
                <a:ea typeface="맑은 고딕"/>
              </a:rPr>
              <a:t>0.35 ms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만 추가 (자세한 비교는 평가 슬라이드에서)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Mechanism 3 — 어떤 tensor를 캐시할 것인가</a:t>
            </a:r>
          </a:p>
        </p:txBody>
      </p:sp>
      <p:pic>
        <p:nvPicPr>
          <p:cNvPr id="4" name="Picture 3" descr="figur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4059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293590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14. (a) Tensor 별 size &amp; 절약 가능한 GFLOPs, (b) cost efficiency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왜 KV tensor가 최적이 아닌가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KV tensor는 attention 입력으로 직접 필요하지만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size가 큼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Cost Efficiency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  <a:ea typeface="맑은 고딕"/>
              </a:rPr>
              <a:t>= Saved compute / Required space  (GFLOPs/MB)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Tensor 6 (정규화된 activation)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51 GFLOPs/MB — KV tensor(30.5)의 1.67×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▸ KV tensor로 변환은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GPU 1 step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이면 충분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Storage-efficient tensor caching — 적용 범위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MHA-based 모델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Llama, Qwen, Bloom, OPT, Baichuan 등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head 별 K, V 가 별도 → KV tensor가 큼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Tensor 6 캐싱이 더 적은 공간으로 더 많은 compute를 절약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→ Bidaw에서는 </a:t>
            </a: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tensor 6 를 캐시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GQA-based 모델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여러 query head가 K, V를 공유 → KV tensor 자체가 작음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tensor 6의 cost-efficiency 우위가 사라짐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→ GQA에서는 그냥 </a:t>
            </a: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KV tensor를 캐시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IMPLEMENTATION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구현 노트 — vLLM 위에 얹는 세 가지 트릭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64592" cy="1005840"/>
          </a:xfrm>
          <a:prstGeom prst="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Continuous batching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조기 종료된 요청을 배치 안에서 즉시 release → 새 요청을 빠르게 admit (ORCA 류와 호환)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164592" cy="1005840"/>
          </a:xfrm>
          <a:prstGeom prst="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Mix-grained PagedAttention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history/query 토큰은 256-token 큰 블록, response 토큰은 16-token 작은 블록 → CPU↔GPU 대역폭 활용 + 단편화 감소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49040"/>
            <a:ext cx="164592" cy="1005840"/>
          </a:xfrm>
          <a:prstGeom prst="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Low-priority CUDA stream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Storage-efficient tensor → KV tensor 변환을 별도 스트림에서 수행 → idle SM 활용, 본 추론 latency에 영향 없음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29200"/>
            <a:ext cx="164592" cy="1005840"/>
          </a:xfrm>
          <a:prstGeom prst="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Inclusive caching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Eviction 시 capacity layer에 이미 사본이 있어 큰 write 트래픽이 발생하지 않음 (FlashGen 류와 동일)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실험 환경 및 비교 대상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Hardware / Software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  <a:ea typeface="맑은 고딕"/>
              </a:rPr>
              <a:t>GPU: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NVIDIA A800 80GB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  <a:ea typeface="맑은 고딕"/>
              </a:rPr>
              <a:t>Host mem: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200 GB (perf layer)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  <a:ea typeface="맑은 고딕"/>
              </a:rPr>
              <a:t>Storage: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RAID-5 over 4× SATA SSD, 1.5 GB/s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  <a:ea typeface="맑은 고딕"/>
              </a:rPr>
              <a:t>PCIe: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Gen 4 (~30 GB/s)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  <a:ea typeface="맑은 고딕"/>
              </a:rPr>
              <a:t>Models: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OPT-6.7B/13B/30B, Qwen-7B/14B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  <a:ea typeface="맑은 고딕"/>
              </a:rPr>
              <a:t>Workloads: 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자체 1M-round trace, ShareGPT (Poisson 시뮬)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3A68"/>
                </a:solidFill>
                <a:latin typeface="Calibri"/>
                <a:ea typeface="맑은 고딕"/>
              </a:rPr>
              <a:t>Baselines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vLLM</a:t>
            </a:r>
            <a:r>
              <a:rPr sz="1200" b="0" i="0">
                <a:solidFill>
                  <a:srgbClr val="6B6B6B"/>
                </a:solidFill>
                <a:latin typeface="Calibri"/>
                <a:ea typeface="맑은 고딕"/>
              </a:rPr>
              <a:t>  Recompute (no KV caching)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CachedAttention</a:t>
            </a:r>
            <a:r>
              <a:rPr sz="1200" b="0" i="0">
                <a:solidFill>
                  <a:srgbClr val="6B6B6B"/>
                </a:solidFill>
                <a:latin typeface="Calibri"/>
                <a:ea typeface="맑은 고딕"/>
              </a:rPr>
              <a:t>  Queue-enhanced LRU + 2-tier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FlashGen</a:t>
            </a:r>
            <a:r>
              <a:rPr sz="1200" b="0" i="0">
                <a:solidFill>
                  <a:srgbClr val="6B6B6B"/>
                </a:solidFill>
                <a:latin typeface="Calibri"/>
                <a:ea typeface="맑은 고딕"/>
              </a:rPr>
              <a:t> 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Optimal</a:t>
            </a:r>
            <a:r>
              <a:rPr sz="1200" b="0" i="0">
                <a:solidFill>
                  <a:srgbClr val="6B6B6B"/>
                </a:solidFill>
                <a:latin typeface="Calibri"/>
                <a:ea typeface="맑은 고딕"/>
              </a:rPr>
              <a:t>  All KVs in perf layer (upper bound)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Bidaw</a:t>
            </a:r>
            <a:r>
              <a:rPr sz="1200" b="0" i="0">
                <a:solidFill>
                  <a:srgbClr val="6B6B6B"/>
                </a:solidFill>
                <a:latin typeface="Calibri"/>
                <a:ea typeface="맑은 고딕"/>
              </a:rPr>
              <a:t>  본 논문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Overall performance — 5개 모델 동시 평가</a:t>
            </a:r>
          </a:p>
        </p:txBody>
      </p:sp>
      <p:pic>
        <p:nvPicPr>
          <p:cNvPr id="4" name="Picture 3" descr="figur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20246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259076"/>
            <a:ext cx="11612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15. 사용자 도착률 vs 평균 응답 latency, 5개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Bidaw — 응답 latency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최대 3.58× 감소 (vs CachedAttention/FlashGen)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Bidaw — throughput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1.43–1.83× 향상 (동일 latency 기준)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Optimal과의 gap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거의 없음 — perf-layer-only 수준에 근접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400" b="1" i="0">
                <a:solidFill>
                  <a:srgbClr val="222222"/>
                </a:solidFill>
                <a:latin typeface="Calibri"/>
                <a:ea typeface="맑은 고딕"/>
              </a:rPr>
              <a:t>Note 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Bidaw는 lossless — 답변 정확도는 FlashGen 등과 동일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Memory sensitivity &amp; Eviction miss rate</a:t>
            </a:r>
          </a:p>
        </p:txBody>
      </p:sp>
      <p:pic>
        <p:nvPicPr>
          <p:cNvPr id="4" name="Picture 3" descr="figur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11159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2350381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16. host memory 120–200GB 범위에서의 latency</a:t>
            </a:r>
          </a:p>
        </p:txBody>
      </p:sp>
      <p:pic>
        <p:nvPicPr>
          <p:cNvPr id="6" name="Picture 5" descr="figure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5029200" cy="2335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3569629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18. (a) memory size · (b) workload pressure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1124712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Memory sensitivity (Fig. 16)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host memory 120GB까지 줄여도 Bidaw는 baseline 200GB 수준의 latency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1.75–2.19× 더 많은 사용자/분 지원 — 작은 메모리에서 격차가 더 벌어짐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Eviction miss rate (Fig. 18)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queue-enhanced (CachedAttention)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  대비 -57.6% miss rate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300" b="0" i="0">
                <a:solidFill>
                  <a:srgbClr val="222222"/>
                </a:solidFill>
                <a:latin typeface="Calibri"/>
                <a:ea typeface="맑은 고딕"/>
              </a:rPr>
              <a:t>LFU/LRU/FIFO 일반 정책</a:t>
            </a:r>
            <a:r>
              <a:rPr sz="1300" b="1" i="0">
                <a:solidFill>
                  <a:srgbClr val="222222"/>
                </a:solidFill>
                <a:latin typeface="Calibri"/>
                <a:ea typeface="맑은 고딕"/>
              </a:rPr>
              <a:t>  대비 -69.9% miss rate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Tail latency · Ablation · Overhead</a:t>
            </a:r>
          </a:p>
        </p:txBody>
      </p:sp>
      <p:pic>
        <p:nvPicPr>
          <p:cNvPr id="4" name="Picture 3" descr="figur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216" y="1188720"/>
            <a:ext cx="4919808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977640"/>
            <a:ext cx="5943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22. Tail latency P90 / P95 / P99 (OPT-30B)</a:t>
            </a:r>
          </a:p>
        </p:txBody>
      </p:sp>
      <p:pic>
        <p:nvPicPr>
          <p:cNvPr id="6" name="Picture 5" descr="figure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2743200" cy="12230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457463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21. Ablation</a:t>
            </a:r>
          </a:p>
        </p:txBody>
      </p:sp>
      <p:pic>
        <p:nvPicPr>
          <p:cNvPr id="8" name="Picture 7" descr="figure_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1188720"/>
            <a:ext cx="2651760" cy="9349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0" y="2169435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  <a:ea typeface="맑은 고딕"/>
              </a:rPr>
              <a:t>Figure 20. Overhead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1124712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Tail latency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P90 −52.96% / P95 −49.30% / P99 −47.03% (vs CachedAttention)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Ablation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Scheduling +1.58×, Eviction +1.25×, Tensor caching +1.10×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400" b="1" i="0">
                <a:solidFill>
                  <a:srgbClr val="1F3A68"/>
                </a:solidFill>
                <a:latin typeface="Calibri"/>
                <a:ea typeface="맑은 고딕"/>
              </a:rPr>
              <a:t>Overhead</a:t>
            </a:r>
            <a:r>
              <a:rPr sz="1400" b="0" i="0">
                <a:solidFill>
                  <a:srgbClr val="222222"/>
                </a:solidFill>
                <a:latin typeface="Calibri"/>
                <a:ea typeface="맑은 고딕"/>
              </a:rPr>
              <a:t>    Scheduling 0.62 ms, Eviction 0.35 ms, KV transform &lt;0.1 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7C99C"/>
                </a:solidFill>
                <a:latin typeface="Calibri"/>
                <a:ea typeface="맑은 고딕"/>
              </a:rPr>
              <a:t>CONCLUSION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  <a:ea typeface="맑은 고딕"/>
              </a:rPr>
              <a:t>정리 · 한계 · 시사점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703320" cy="51206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  <a:ea typeface="맑은 고딕"/>
              </a:rPr>
              <a:t>기여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compute ↔ storage 양방향 정보 공유라는 새로운 설계 원칙 제시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I/O-aware scheduling + previous-answer-based eviction의 두 메커니즘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MHA에서 storage-efficient tensor 캐싱으로 공간/연산 trade-off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5 모델 평균 3.58× latency / 1.83× throughput, optimal 근접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0" y="1188720"/>
            <a:ext cx="3703320" cy="51206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  <a:ea typeface="맑은 고딕"/>
              </a:rPr>
              <a:t>한계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단일 사용자 대화 안에서의 KV 재사용만 다룸 — cross-user 공유는 범위 밖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GQA에서는 storage-efficient tensor 효과가 사라짐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ShareGPT 류 timestamp 부재 trace에선 eviction 효과가 약화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단일 GPU 노드 평가 — disaggregated/멀티노드는 future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188720"/>
            <a:ext cx="3703320" cy="51206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  <a:ea typeface="맑은 고딕"/>
              </a:rPr>
              <a:t>논의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“대화 시스템”의 사람-속도가 storage 정책에 신호로 활용 가능하다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고전 storage 기법(HRRN, Belady ghost cache)이 LLM에서 다시 빛난다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6A33"/>
                </a:solidFill>
                <a:latin typeface="Calibri"/>
                <a:ea typeface="맑은 고딕"/>
              </a:rPr>
              <a:t>▸ </a:t>
            </a:r>
            <a:r>
              <a:rPr sz="1200" b="0" i="0">
                <a:solidFill>
                  <a:srgbClr val="222222"/>
                </a:solidFill>
                <a:latin typeface="Calibri"/>
                <a:ea typeface="맑은 고딕"/>
              </a:rPr>
              <a:t>ML serving + storage co-design 의 좋은 사례 — 후속 연구가 활발할 영역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537960"/>
            <a:ext cx="11277295" cy="0"/>
          </a:xfrm>
          <a:prstGeom prst="line">
            <a:avLst/>
          </a:prstGeom>
          <a:ln w="12700">
            <a:solidFill>
              <a:srgbClr val="D0D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Bidaw — FAST '26 paper seminar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6B6B"/>
                </a:solidFill>
                <a:latin typeface="Calibri"/>
                <a:ea typeface="맑은 고딕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