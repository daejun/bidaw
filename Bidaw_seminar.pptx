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463040"/>
            <a:ext cx="91440" cy="192024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0"/>
            <a:ext cx="91440" cy="822960"/>
          </a:xfrm>
          <a:prstGeom prst="rect">
            <a:avLst/>
          </a:prstGeom>
          <a:solidFill>
            <a:srgbClr val="468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362895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1F2937"/>
                </a:solidFill>
                <a:latin typeface="Calibri"/>
                <a:ea typeface="맑은 고딕"/>
              </a:rPr>
              <a:t>Bidaw: Enhancing Key-Value Caching</a:t>
            </a:r>
          </a:p>
          <a:p>
            <a:pPr algn="l">
              <a:spcAft>
                <a:spcPts val="800"/>
              </a:spcAft>
            </a:pPr>
            <a:r>
              <a:rPr sz="3800" b="1" i="0">
                <a:solidFill>
                  <a:srgbClr val="1F2937"/>
                </a:solidFill>
                <a:latin typeface="Calibri"/>
                <a:ea typeface="맑은 고딕"/>
              </a:rPr>
              <a:t>for Interactive LLM Serving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6B7280"/>
                </a:solidFill>
                <a:latin typeface="Calibri"/>
                <a:ea typeface="맑은 고딕"/>
              </a:rPr>
              <a:t>via Bidirectional Computation–Storage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103628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Shipeng Hu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·  Guangyan Zhang  ·  Yuqi Zhou  ·  Yaya Wei  ·  Ziyan Zhong  ·  Jike Chen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Tsinghua University · CUGB · China Telecom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1153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FAST '26 Paper Seminar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발표자: ____________    ·    일시: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AGENDA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발표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17320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Background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Interactive LLM serving과 KV cache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84248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84248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Motivation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KV loading 병목과 워크로드 관찰 세 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51176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51176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Key Idea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Bidirectional computation–storage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18104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Mechanism 1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I/O-aware request scheduling (compute 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85032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85032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Mechanism 2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Previous-answer-based eviction (storage 측)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51960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51960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Mechanism 3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Storage-efficient tensor 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18888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18888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Evaluation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모델 5종에 걸친 핵심 plot 7개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85816"/>
            <a:ext cx="594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6B7280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85816"/>
            <a:ext cx="100584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Discussion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한계와 일반화 가능성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BACKGROUND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Interactive LLM serving — 멀티 라운드 대화 패턴</a:t>
            </a:r>
          </a:p>
        </p:txBody>
      </p:sp>
      <p:pic>
        <p:nvPicPr>
          <p:cNvPr id="3" name="Picture 2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760720" cy="1632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2866978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1. 각 라운드의 답변은 이전 라운드의 KV tensor를 참조한다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사례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Replika · Duolingo · 챗봇 — 사용자와 LLM이 번갈아 주고받는 대화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사용자 한 명당 평균 22.4 라운드 (P90 = 45 라운드)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한 대화 지속 시간 평균 수 분, 길면 60분 이상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기술적 핵심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N번째 라운드 답변 = 0~N-1 라운드의 KV를 재사용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재계산은 GPU FLOPs 낭비 → caching이 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BACKGROUND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KV cache 역할 — attention 재계산을 피하는 핵심 자료구조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0" y="1280160"/>
            <a:ext cx="55778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212080" cy="4023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Self-attention 요점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onsolas"/>
                <a:ea typeface="맑은 고딕"/>
              </a:rPr>
              <a:t>Attention(Q,K,V) = softmax(Q·K^T / sqrt(d))·V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새 토큰 1개의 Q만 새로 계산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과거 토큰의 K, V는 그대로 →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재사용 가능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토큰 t개 · layer L · head h · head_dim d 일 때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937"/>
                </a:solidFill>
                <a:latin typeface="Consolas"/>
                <a:ea typeface="맑은 고딕"/>
              </a:rPr>
              <a:t>KV size = 2 · t · L · h · d · sizeof(dtype)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  <a:ea typeface="맑은 고딕"/>
              </a:rPr>
              <a:t>예: OPT-13B에서 2,048 토큰이면 약 0.78 GB /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왜 KV cache가 필요한가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재계산을 피하면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응답 latency가 그만큼 짧아진다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저장 비용이 큼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→ 효율적 관리가 시스템 설계의 첫 과제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vLLM, PagedAttention 같은 가속 시스템도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결국 KV cache 관리가 중심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이 논문이 다루는 KV는?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한 사용자의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여러 라운드 대화 KV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를 보존 — 사용자 간 KV 공유는 범위 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BACKGROUND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왜 GPU 메모리에 다 담을 수 없는가</a:t>
            </a:r>
          </a:p>
        </p:txBody>
      </p:sp>
      <p:pic>
        <p:nvPicPr>
          <p:cNvPr id="3" name="Picture 2" descr="figur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760720" cy="3062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4297012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5. 사용자 도착률 vs 동시 캐싱 KV 총량 (perf layer 200GB 기준)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80GB A800 GPU 1장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→ KV가 GPU 메모리를 곧바로 채움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도착률 30 users/min에서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OPT-13B의 동시 캐싱 KV ≈ 480 GB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LLM 서버의 host memory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≈ GPU 메모리의 1.6–3.2배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• 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→ host memory도 부족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→ capacity SSD까지 같이 써야 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5488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512064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1F2937"/>
                </a:solidFill>
                <a:latin typeface="Calibri"/>
                <a:ea typeface="맑은 고딕"/>
              </a:rPr>
              <a:t>동시 캐싱 KV가 perf layer를 </a:t>
            </a:r>
            <a:r>
              <a:rPr sz="2000" b="1" i="0">
                <a:solidFill>
                  <a:srgbClr val="D9352A"/>
                </a:solidFill>
                <a:latin typeface="Calibri"/>
                <a:ea typeface="맑은 고딕"/>
              </a:rPr>
              <a:t>최대 3.91배</a:t>
            </a:r>
            <a:r>
              <a:rPr sz="2000" b="0" i="0">
                <a:solidFill>
                  <a:srgbClr val="1F2937"/>
                </a:solidFill>
                <a:latin typeface="Calibri"/>
                <a:ea typeface="맑은 고딕"/>
              </a:rPr>
              <a:t> 초과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  <a:ea typeface="맑은 고딕"/>
              </a:rPr>
              <a:t>→ 2-tier (host memory + SSD) 캐싱이 불가피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BACKGROUND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기존 솔루션 — Two-tier storage caching</a:t>
            </a:r>
          </a:p>
        </p:txBody>
      </p:sp>
      <p:pic>
        <p:nvPicPr>
          <p:cNvPr id="3" name="Picture 2" descr="figur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2862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97331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2. Compute engine과 two-tier storage의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188720"/>
            <a:ext cx="4297680" cy="5120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Performance layer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Host DRAM — 빠르지만 용량이 작음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Capacity layer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SSD (RAID-5, 이 논문은 1.5 GB/s)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주요 선행 시스템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CachedAttention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[ATC ’24] queue-enhanced LRU eviction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FlashGen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[FAST ’25] inclusive caching + GPU-fit scheduling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HCache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[EuroSys ’25] intermediate activation 캐싱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212080"/>
            <a:ext cx="6858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64922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쓰기는 백그라운드로 빠졌지만, 읽기(load)는 여전히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critical path 위에 남아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BACKGROUND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KV loading 자체가 병목 — 이상치 대비 큰 격차</a:t>
            </a:r>
          </a:p>
        </p:txBody>
      </p:sp>
      <p:pic>
        <p:nvPicPr>
          <p:cNvPr id="3" name="Picture 2" descr="figur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132320" cy="349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32184"/>
            <a:ext cx="7132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3. KV 재계산 / 기존 cache / Ideal cache의 latency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280160"/>
            <a:ext cx="402336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측정 환경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OPT-13B · A800 80GB · 200GB host · 1.5 GB/s SSD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성능 격차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응답 latency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최대 3.8배 증가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throughput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최대 2.0배 감소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Ideal vs 현실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Ideal = 모든 KV가 perf layer에 있다고 가정한 동일 시스템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1F2937"/>
                </a:solidFill>
                <a:latin typeface="Calibri"/>
                <a:ea typeface="맑은 고딕"/>
              </a:rPr>
              <a:t>이 격차의 원인을 풀어내는 것이 이 논문의 출발점이다.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MOTIVATION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워크로드 — 100만 라운드 규모의 실서비스 대화 trace</a:t>
            </a:r>
          </a:p>
        </p:txBody>
      </p:sp>
      <p:pic>
        <p:nvPicPr>
          <p:cNvPr id="3" name="Picture 2" descr="figur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132320" cy="2669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03797"/>
            <a:ext cx="7132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4. (a) 사용자별 대화 지속시간, (b) 라운드 수 CDF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280160"/>
            <a:ext cx="402336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Trace 출처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China Telecom · 100만+ 라운드 · 사용자 timestamp 포함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ShareGPT · Mooncake와의 차이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ShareGPT: 5.7 라운드 — 인터랙티브 분석엔 짧음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Mooncake: 12k+ 토큰 — 길지만 대화 패턴 없음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이 trace: 22.4 라운드 / 36 토큰 — 인터랙티브 워크로드에 잘 맞음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이어지는 세 슬라이드에서 다룰 내용  →  </a:t>
            </a:r>
            <a:r>
              <a:rPr sz="2200" b="1" i="0">
                <a:solidFill>
                  <a:srgbClr val="D9352A"/>
                </a:solidFill>
                <a:latin typeface="Calibri"/>
                <a:ea typeface="맑은 고딕"/>
              </a:rPr>
              <a:t>Observation 1 · 2 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MOTIVATION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Observation 1 — 동시 캐싱 KV가 perf layer를 크게 초과</a:t>
            </a:r>
          </a:p>
        </p:txBody>
      </p:sp>
      <p:pic>
        <p:nvPicPr>
          <p:cNvPr id="3" name="Picture 2" descr="figur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38889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4861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5. 사용자 도착률 vs 동시 캐싱 KV 총량 / 동시 사용자 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280160"/>
            <a:ext cx="39319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관찰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한 사용자의 KV가 22.4 라운드 동안 살아 있음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도착률↑ → 동시 사용자 수 선형 증가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30 users/min에서 480 GB &gt; perf 200 GB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함의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perf layer를 키워도 결국 한계가 있음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eviction이 비효율적이면 capacity layer로 자주 떨어짐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MOTIVATION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Observation 2 — KV access의 temporal locality가 매우 약함</a:t>
            </a:r>
          </a:p>
        </p:txBody>
      </p:sp>
      <p:pic>
        <p:nvPicPr>
          <p:cNvPr id="3" name="Picture 2" descr="figur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261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454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6. (a) Weighted reuse distance CDF, (b) hit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280160"/>
            <a:ext cx="39319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Weighted reuse distance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두 access 사이에 접근된 </a:t>
            </a:r>
            <a:r>
              <a:rPr sz="1400" b="1" i="0">
                <a:solidFill>
                  <a:srgbClr val="1F2937"/>
                </a:solidFill>
                <a:latin typeface="Calibri"/>
                <a:ea typeface="맑은 고딕"/>
              </a:rPr>
              <a:t>다른 KV들의 크기 합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측정치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700" b="0" i="0">
                <a:solidFill>
                  <a:srgbClr val="1F2937"/>
                </a:solidFill>
                <a:latin typeface="Calibri"/>
                <a:ea typeface="맑은 고딕"/>
              </a:rPr>
              <a:t>access의 80%가 </a:t>
            </a: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perf 200 GB를 초과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700" b="0" i="0">
                <a:solidFill>
                  <a:srgbClr val="1F2937"/>
                </a:solidFill>
                <a:latin typeface="Calibri"/>
                <a:ea typeface="맑은 고딕"/>
              </a:rPr>
              <a:t>정책에 상관없이 </a:t>
            </a: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hit ≈ 20%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700" b="0" i="0">
                <a:solidFill>
                  <a:srgbClr val="1F2937"/>
                </a:solidFill>
                <a:latin typeface="Calibri"/>
                <a:ea typeface="맑은 고딕"/>
              </a:rPr>
              <a:t>perf가 40%를 담아도 </a:t>
            </a:r>
            <a:r>
              <a:rPr sz="1700" b="1" i="0">
                <a:solidFill>
                  <a:srgbClr val="1F2937"/>
                </a:solidFill>
                <a:latin typeface="Calibri"/>
                <a:ea typeface="맑은 고딕"/>
              </a:rPr>
              <a:t>hit은 절반 수준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맑은 고딕"/>
              </a:rPr>
              <a:t>→ 사용자가 답을 읽는 사이 </a:t>
            </a:r>
            <a:r>
              <a:rPr sz="1600" b="0" i="1">
                <a:solidFill>
                  <a:srgbClr val="6B7280"/>
                </a:solidFill>
                <a:latin typeface="Calibri"/>
                <a:ea typeface="맑은 고딕"/>
              </a:rPr>
              <a:t>다른 KV가 끼어든다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MOTIVATION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Observation 3 — KV loading 시간 분산이 매우 큼</a:t>
            </a:r>
          </a:p>
        </p:txBody>
      </p:sp>
      <p:pic>
        <p:nvPicPr>
          <p:cNvPr id="3" name="Picture 2" descr="figur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669280" cy="2380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6832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7. 시간 구간별 KV loading time의 변동계수 CV</a:t>
            </a:r>
          </a:p>
        </p:txBody>
      </p:sp>
      <p:pic>
        <p:nvPicPr>
          <p:cNvPr id="5" name="Picture 4" descr="figur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486400" cy="2385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711561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8. 로드된 KV 크기 분포 (히스토그램)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왜 분산이 큰가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host DRAM과 SSD의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bandwidth 격차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·  요청마다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KV size가 수십 MB ~ 수백 MB로 다양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· 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5초 윈도우에서도 CV &gt; 90%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함의 — </a:t>
            </a:r>
            <a:r>
              <a:rPr sz="2000" b="0" i="0">
                <a:solidFill>
                  <a:srgbClr val="1F2937"/>
                </a:solidFill>
                <a:latin typeface="Calibri"/>
                <a:ea typeface="맑은 고딕"/>
              </a:rPr>
              <a:t>큰 KV 한 개가 </a:t>
            </a:r>
            <a:r>
              <a:rPr sz="2000" b="1" i="0">
                <a:solidFill>
                  <a:srgbClr val="D9352A"/>
                </a:solidFill>
                <a:latin typeface="Calibri"/>
                <a:ea typeface="맑은 고딕"/>
              </a:rPr>
              <a:t>뒤따르는 작은 KV들까지 막아 GPU를 놀게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ROOT CAUSE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Root cause — compute engine과 storage가 서로를 모름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문제 1. Compute engine이 storage I/O latency를 모른다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어느 요청의 KV가 perf layer에 있고, 어느 것이 capacity layer에 있는지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어느 요청의 KV size가 크고 어느 것이 작은지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D9352A"/>
                </a:solidFill>
                <a:latin typeface="Calibri"/>
                <a:ea typeface="맑은 고딕"/>
              </a:rPr>
              <a:t>→ FCFS로 보내면 큰 I/O 하나가 큐 앞을 막아 GPU가 논다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12064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문제 2. Storage가 사용자 대화 패턴을 모른다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eviction이 storage 쪽 KV access history만 사용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사용자의 다음 질문 시점은 compute가 만든 답변 길이가 결정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D9352A"/>
                </a:solidFill>
                <a:latin typeface="Calibri"/>
                <a:ea typeface="맑은 고딕"/>
              </a:rPr>
              <a:t>→ 정보 부족으로 hit rate가 20% 수준에 머무름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두 문제 모두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정보 교환이 한 방향에 그치거나 아예 끊겨 있다는 점에서 같다</a:t>
            </a:r>
          </a:p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  <a:ea typeface="맑은 고딕"/>
              </a:rPr>
              <a:t>Bidaw의 가설: </a:t>
            </a:r>
            <a:r>
              <a:rPr sz="1500" b="1" i="0">
                <a:solidFill>
                  <a:srgbClr val="1F2937"/>
                </a:solidFill>
                <a:latin typeface="Calibri"/>
                <a:ea typeface="맑은 고딕"/>
              </a:rPr>
              <a:t>양방향 정보 교환을 열어주면 두 문제가 함께 풀린다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KEY IDEA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핵심 아이디어 — Bidirectional awareness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17320"/>
            <a:ext cx="5486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3200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Compute → Storage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이전 라운드의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답변 길이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를 storage에 전달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이 길이가 다음 질문 도착 시점을 가늠하는 신호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storage는 이 신호로 다음 access의 reuse distance를 추정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hit potential이 가장 낮은 KV를 evict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17320"/>
            <a:ext cx="5486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3200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Storage → Compute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각 요청 KV의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위치(layer)와 크기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를 compute에 전달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compute가 KV의 위치와 크기를 알고 dispatch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ready / preparing 두 큐로 I/O 길이를 분리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GPU 유휴 시간 제거 + 큐잉 지연 감소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DESIGN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시스템 구성 — 3개 컴포넌트와 양방향 신호</a:t>
            </a:r>
          </a:p>
        </p:txBody>
      </p:sp>
      <p:pic>
        <p:nvPicPr>
          <p:cNvPr id="3" name="Picture 2" descr="figur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760720" cy="4656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91139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9. Bidaw 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188720"/>
            <a:ext cx="5486400" cy="5120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①  Scheduler  (§3.2)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storage에서 KV 위치와 크기를 받아 ready/preparing 큐로 분리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②  History Cacher  (§4)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GPU에서 만들어진 history tensor 중 storage-efficient tensor만 캐싱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③  Eviction Manager  (§3.3)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compute가 보낸 답변 길이로 reuse distance를 추정하고 hit potential이 가장 낮은 KV를 evict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D9352A"/>
                </a:solidFill>
                <a:latin typeface="Calibri"/>
                <a:ea typeface="맑은 고딕"/>
              </a:rPr>
              <a:t>Bidirectional 신호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Storage → Compute: KV의 위치와 크기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Compute → Storage: 다음 access 시점(= 답변 길이)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DESIGN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6B7280"/>
                </a:solidFill>
                <a:latin typeface="Calibri"/>
                <a:ea typeface="맑은 고딕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2588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  <a:ea typeface="맑은 고딕"/>
              </a:rPr>
              <a:t>사용자 요청이 도착하면 Scheduler가 KV의 위치와 크기를 storage에서 조회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→ Ready queue 또는 Preparing queue로 보냄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73152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6B7280"/>
                </a:solidFill>
                <a:latin typeface="Calibri"/>
                <a:ea typeface="맑은 고딕"/>
              </a:rPr>
              <a:t>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  <a:ea typeface="맑은 고딕"/>
              </a:rPr>
              <a:t>GPU가 inference 중에 만든 storage-efficient tensor를 History Cacher가 보관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→ KV tensor 대신 더 작은 intermediate tensor를 저장 (MHA에 한함)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73152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6B7280"/>
                </a:solidFill>
                <a:latin typeface="Calibri"/>
                <a:ea typeface="맑은 고딕"/>
              </a:rPr>
              <a:t>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  <a:ea typeface="맑은 고딕"/>
              </a:rPr>
              <a:t>GPU 응답이 끝나면 답변 토큰 길이를 Eviction Manager에 전달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→ 다음 KV access의 reuse distance 분포를 추정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73152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6B7280"/>
                </a:solidFill>
                <a:latin typeface="Calibri"/>
                <a:ea typeface="맑은 고딕"/>
              </a:rPr>
              <a:t>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89204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  <a:ea typeface="맑은 고딕"/>
              </a:rPr>
              <a:t>perf layer 여유 공간이 임계치 아래로 떨어지면 eviction 트리거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→ hit potential이 가장 낮은 KV를 capacity layer로 이동 (inclusive caching)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1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Mechanism 1의 동기 — I/O blocking과 overlap의 한계</a:t>
            </a:r>
          </a:p>
        </p:txBody>
      </p:sp>
      <p:pic>
        <p:nvPicPr>
          <p:cNvPr id="3" name="Picture 2" descr="figur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675120" cy="22469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481347"/>
            <a:ext cx="6675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10. I/O-aware request scheduling 전략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188720"/>
            <a:ext cx="4572000" cy="5120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왜 단순한 overlap으로는 부족한가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GPU compute 한 iteration = 수십 ms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capacity layer I/O = 수백 ms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다음 layer KV load와 겹쳐도 시간 차가 너무 큼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naive overlap만으로는 GPU가 다음 토큰을 기다리며 다시 논다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설계 목표 — </a:t>
            </a:r>
            <a:r>
              <a:rPr sz="2000" b="0" i="0">
                <a:solidFill>
                  <a:srgbClr val="1F2937"/>
                </a:solidFill>
                <a:latin typeface="Calibri"/>
                <a:ea typeface="맑은 고딕"/>
              </a:rPr>
              <a:t>느린 I/O가 빠른 I/O를 막지 않으면서, </a:t>
            </a:r>
            <a:r>
              <a:rPr sz="2000" b="1" i="0">
                <a:solidFill>
                  <a:srgbClr val="D9352A"/>
                </a:solidFill>
                <a:latin typeface="Calibri"/>
                <a:ea typeface="맑은 고딕"/>
              </a:rPr>
              <a:t>큰 KV 요청도 starvation 없이 처리한다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1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I/O-aware scheduling — Dual queue + disk-HRRN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6692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303520" cy="3383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Dual queue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Ready queue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KV가 perf layer에 있는 요청 — FCFS로 GPU에 바로 보냄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Preparing queue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KV가 capacity layer에 있는 요청 — 백그라운드로 perf layer에 올림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promotion 후에도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원래 도착 시각을 유지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해 tail latency 급증을 막음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94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417320"/>
            <a:ext cx="5029200" cy="3383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disk-HRRN (preparing queue 정렬)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F2937"/>
                </a:solidFill>
                <a:latin typeface="Consolas"/>
                <a:ea typeface="맑은 고딕"/>
              </a:rPr>
              <a:t>Response ratio = 1 + (Request waiting time) / (KV size)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작은 KV 먼저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→ ready queue로 빠르게 promote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대기 시간이 길어지면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큰 KV도 promote (starvation 방지)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classical HRRN을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I/O time ≈ KV size에 맞춰 변형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1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동작 예 — GPU 유휴 시간을 어떻게 없애는가</a:t>
            </a:r>
          </a:p>
        </p:txBody>
      </p:sp>
      <p:pic>
        <p:nvPicPr>
          <p:cNvPr id="3" name="Picture 2" descr="figur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81" y="1188720"/>
            <a:ext cx="610643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064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11. (a) FCFS vs (b) I/O-aware scheduling의 timeline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280160"/>
            <a:ext cx="39319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(a) FCFS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큐 앞쪽의 req 1, 2(큰 capacity-layer KV)가 막아서</a:t>
            </a:r>
          </a:p>
          <a:p>
            <a:pPr algn="l">
              <a:spcAft>
                <a:spcPts val="1000"/>
              </a:spcAft>
            </a:pPr>
            <a:r>
              <a:rPr sz="1800" b="0" i="1">
                <a:solidFill>
                  <a:srgbClr val="D9352A"/>
                </a:solidFill>
                <a:latin typeface="Calibri"/>
                <a:ea typeface="맑은 고딕"/>
              </a:rPr>
              <a:t>GPU와 perf-layer I/O가 모두 논다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(b) I/O-aware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req 3, 4, 5(perf-layer hit)가 먼저 GPU로 가고, 그 사이 req 2가 promote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평균 큐잉 시간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5.76s → 2.45s (-57.5%)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2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Mechanism 2의 핵심 관찰 — 답변 길이와 다음 reuse distance</a:t>
            </a:r>
          </a:p>
        </p:txBody>
      </p:sp>
      <p:pic>
        <p:nvPicPr>
          <p:cNvPr id="3" name="Picture 2" descr="figur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6" y="1188720"/>
            <a:ext cx="10060387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12. 시간대별 답변 길이(가로축) vs 다음 KV access의 reuse distance(세로축). 빨간 선 = 하한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정의 — Weighted reuse distance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현재 access와 다음 access 사이에 접근되는 다른 KV의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byte 합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관찰 — 답변이 길수록 사용자가 다음 질문을 늦게 보내고, 그 사이 다른 사용자의 KV가 끼어들면서 reuse distance 하한이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꾸준히 증가 (Spearman ρ = 0.94 ~ 0.98)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2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reuse distance가 크다고 곧 미스인 것은 아니다</a:t>
            </a:r>
          </a:p>
        </p:txBody>
      </p:sp>
      <p:pic>
        <p:nvPicPr>
          <p:cNvPr id="3" name="Picture 2" descr="figur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277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12565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13. Reuse distance 구간별 hit rate (Optimal vs FIFO/LRU/Q-enh)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280160"/>
            <a:ext cx="43891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세 영역으로 나눔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Small  (&lt; perf layer size)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어떤 정책이든 hit ≈ 1.0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Promising  (중간 영역)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Optimal(Belady)은 100%에 가깝지만 LRU는 0~40% 수준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Extreme  (440 GB+)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  <a:ea typeface="맑은 고딕"/>
              </a:rPr>
              <a:t>Optimal도 hit ≈ 0 — eviction 1순위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7132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676656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교훈 — distance만 보고 evict하면 promising 구간을 놓친다.
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Optimal과의 격차를 좁히려면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구간별 hit 확률을 모델링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2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Eviction 알고리즘 — Ghost cache + bucket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6B7280"/>
                </a:solidFill>
                <a:latin typeface="Calibri"/>
                <a:ea typeface="맑은 고딕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  <a:ea typeface="맑은 고딕"/>
              </a:rPr>
              <a:t>Promising 영역을 m개의 fine-grained bucket으로 나눔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6B7280"/>
                </a:solidFill>
                <a:latin typeface="Calibri"/>
                <a:ea typeface="맑은 고딕"/>
              </a:rPr>
              <a:t>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  <a:ea typeface="맑은 고딕"/>
              </a:rPr>
              <a:t>각 bucket의 hit rate를 ghost cache 위에서 Belady 시뮬레이션으로 측정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6B7280"/>
                </a:solidFill>
                <a:latin typeface="Calibri"/>
                <a:ea typeface="맑은 고딕"/>
              </a:rPr>
              <a:t>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  <a:ea typeface="맑은 고딕"/>
              </a:rPr>
              <a:t>사용자별 과거 KV access 분포로, 다음 access가 각 bucket에 떨어질 확률을 추정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6B7280"/>
                </a:solidFill>
                <a:latin typeface="Calibri"/>
                <a:ea typeface="맑은 고딕"/>
              </a:rPr>
              <a:t>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  <a:ea typeface="맑은 고딕"/>
              </a:rPr>
              <a:t>compute가 보낸 답변 길이로 reuse distance 하한을 정해 더 작은 bucket의 확률을 0으로 truncate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6B7280"/>
                </a:solidFill>
                <a:latin typeface="Calibri"/>
                <a:ea typeface="맑은 고딕"/>
              </a:rPr>
              <a:t>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49240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  <a:ea typeface="맑은 고딕"/>
              </a:rPr>
              <a:t>Equation 2로 overall hit potential을 계산해 가장 낮은 KV를 evict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2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Eviction 결정식 — Overall hit potential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onsolas"/>
                <a:ea typeface="맑은 고딕"/>
              </a:rPr>
              <a:t>Overall_potential = prob_small · 1.0  +  prob_extreme · 0.0  +  Σᵢ prob_promising(i) · hit_promising(i)</a:t>
            </a:r>
          </a:p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  <a:ea typeface="맑은 고딕"/>
              </a:rPr>
              <a:t>Equation (2). hit potential이 가장 낮은 KV를 evict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 </a:t>
            </a:r>
            <a:r>
              <a:rPr sz="1800" b="1" i="0">
                <a:solidFill>
                  <a:srgbClr val="1F2937"/>
                </a:solidFill>
                <a:latin typeface="Consolas"/>
                <a:ea typeface="맑은 고딕"/>
              </a:rPr>
              <a:t>prob_small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다음 access가 perf layer 안에 들어올 확률 — hit 확률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 </a:t>
            </a:r>
            <a:r>
              <a:rPr sz="1800" b="1" i="0">
                <a:solidFill>
                  <a:srgbClr val="1F2937"/>
                </a:solidFill>
                <a:latin typeface="Consolas"/>
                <a:ea typeface="맑은 고딕"/>
              </a:rPr>
              <a:t>prob_promising(i)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promising bucket i에 떨어질 확률 (총 m개 bucket)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 </a:t>
            </a:r>
            <a:r>
              <a:rPr sz="1800" b="1" i="0">
                <a:solidFill>
                  <a:srgbClr val="1F2937"/>
                </a:solidFill>
                <a:latin typeface="Consolas"/>
                <a:ea typeface="맑은 고딕"/>
              </a:rPr>
              <a:t>hit_promising(i)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ghost cache의 Belady 시뮬레이션이 알려주는 bucket i의 hit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 </a:t>
            </a:r>
            <a:r>
              <a:rPr sz="1800" b="1" i="0">
                <a:solidFill>
                  <a:srgbClr val="1F2937"/>
                </a:solidFill>
                <a:latin typeface="Consolas"/>
                <a:ea typeface="맑은 고딕"/>
              </a:rPr>
              <a:t>prob_extreme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perf layer로 다시 돌아오지 않음 — hit 확률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Note. Ghost cache는 백그라운드에서 Belady 시뮬레이션을 수행 — eviction 결정 단계의 추가 비용은 </a:t>
            </a:r>
            <a:r>
              <a:rPr sz="1400" b="1" i="0">
                <a:solidFill>
                  <a:srgbClr val="D9352A"/>
                </a:solidFill>
                <a:latin typeface="Calibri"/>
                <a:ea typeface="맑은 고딕"/>
              </a:rPr>
              <a:t>0.35 ms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에 그침 (자세한 비교는 평가 슬라이드에서)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3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Mechanism 3 — 어떤 tensor를 캐싱할 것인가</a:t>
            </a:r>
          </a:p>
        </p:txBody>
      </p:sp>
      <p:pic>
        <p:nvPicPr>
          <p:cNvPr id="3" name="Picture 2" descr="figur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05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9359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14. (a) tensor별 size와 절약 가능한 GFLOPs, (b) cost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280160"/>
            <a:ext cx="43891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왜 KV tensor가 최선이 아닌가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KV tensor가 직접 필요하지만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size가 크다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Cost Efficiency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937"/>
                </a:solidFill>
                <a:latin typeface="Consolas"/>
                <a:ea typeface="맑은 고딕"/>
              </a:rPr>
              <a:t>= Saved compute / Required space  (GFLOPs/MB)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Tensor 6 (정규화된 activation)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51 GFLOPs/MB — KV tensor(30.5)의 1.67배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▸ KV tensor로 변환하는 데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GPU 1 step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이면 충분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MECHANISM 3 / 3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Storage-efficient tensor caching — 적용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6692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303520" cy="2834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MHA 기반 모델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Llama · Qwen · Bloom · OPT · Baichuan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head마다 K, V가 분리 → KV가 큼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tensor 6 캐싱이 적은 공간으로 많은 compute를 절약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→ Bidaw는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tensor 6를 캐싱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94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417320"/>
            <a:ext cx="5029200" cy="2834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GQA 기반 모델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여러 query head가 K, V를 공유 → KV tensor 자체가 작음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tensor 6의 cost-efficiency 이점이 사라짐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→ GQA에서는 </a:t>
            </a: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KV tensor를 그대로 캐싱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IMPLEMENTATION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구현 노트 — vLLM 위에 얹는 네 가지 기법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64592" cy="1005840"/>
          </a:xfrm>
          <a:prstGeom prst="rect">
            <a:avLst/>
          </a:prstGeom>
          <a:solidFill>
            <a:srgbClr val="D9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7899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Continuous batching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일찍 끝난 요청을 배치에서 바로 빼고 새 요청을 곧장 받아들임 (ORCA 계열과 호환)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64592" cy="1005840"/>
          </a:xfrm>
          <a:prstGeom prst="rect">
            <a:avLst/>
          </a:prstGeom>
          <a:solidFill>
            <a:srgbClr val="D9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7899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Mix-grained PagedAttention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history/query 토큰은 256토큰의 큰 블록, response 토큰은 16토큰의 작은 블록으로 관리 → CPU-GPU 대역폭 활용도 향상, 단편화 감소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40"/>
            <a:ext cx="164592" cy="1005840"/>
          </a:xfrm>
          <a:prstGeom prst="rect">
            <a:avLst/>
          </a:prstGeom>
          <a:solidFill>
            <a:srgbClr val="D9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7899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Low-priority CUDA stream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storage-efficient tensor를 KV tensor로 바꾸는 작업을 별도 스트림에서 실행 → 유휴 SM을 활용하고 실제 추론 latency에 영향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164592" cy="1005840"/>
          </a:xfrm>
          <a:prstGeom prst="rect">
            <a:avLst/>
          </a:prstGeom>
          <a:solidFill>
            <a:srgbClr val="D9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7899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Inclusive caching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eviction 시점에 capacity layer에 이미 사본이 있어 추가 write 트래픽이 거의 없음 (FlashGen 계열과 동일)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EVALUATION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실험 환경 및 비교 대상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0352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Hardware / Software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GPU: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NVIDIA A800 80GB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Host mem: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200 GB (perf layer)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Storage: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SATA SSD 4장 RAID-5, 1.5 GB/s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PCIe: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Gen 4 (~30 GB/s)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Models: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OPT-6.7B/13B/30B, Qwen-7B/14B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Workloads: 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자체 100만 라운드 trace, ShareGPT (Poisson 시뮬)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188720"/>
            <a:ext cx="539496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280160"/>
            <a:ext cx="502920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  <a:ea typeface="맑은 고딕"/>
              </a:rPr>
              <a:t>Baselines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vLLM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Recompute (KV caching 없음)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CachedAttention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Queue-enhanced LRU + 2-tier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FlashGen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Inclusive caching + GPU-fit scheduling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Optimal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모든 KV가 perf layer에 있는 상한선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Bidaw</a:t>
            </a:r>
            <a:r>
              <a:rPr sz="1400" b="0" i="0">
                <a:solidFill>
                  <a:srgbClr val="6B7280"/>
                </a:solidFill>
                <a:latin typeface="Calibri"/>
                <a:ea typeface="맑은 고딕"/>
              </a:rPr>
              <a:t>  이 논문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EVALUATION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Overall performance — 모델 5종 동시 평가</a:t>
            </a:r>
          </a:p>
        </p:txBody>
      </p:sp>
      <p:pic>
        <p:nvPicPr>
          <p:cNvPr id="3" name="Picture 2" descr="fig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0246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3259076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15. 사용자 도착률 vs 평균 응답 latency, 모델 5종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1124712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Bidaw — 응답 latency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최대 3.58배 감소 (vs CachedAttention/FlashGen)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Bidaw — throughput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1.43~1.83배 향상 (동일 latency 기준)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Optimal과의 격차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거의 없음 — perf-layer-only 수준에 근접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Note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Bidaw는 lossless — 답변 정확도는 FlashGen 등과 같음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EVALUATION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Memory sensitivity &amp; Eviction miss rate</a:t>
            </a:r>
          </a:p>
        </p:txBody>
      </p:sp>
      <p:pic>
        <p:nvPicPr>
          <p:cNvPr id="3" name="Picture 2" descr="figur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11159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350381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16. host memory 120~200GB 범위에서의 latency</a:t>
            </a:r>
          </a:p>
        </p:txBody>
      </p:sp>
      <p:pic>
        <p:nvPicPr>
          <p:cNvPr id="5" name="Picture 4" descr="figur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20"/>
            <a:ext cx="5029200" cy="23351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3569629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18. (a) memory size · (b) workload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Memory sensitivity (Fig. 16)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host memory를 120GB까지 줄여도 Bidaw는 baseline 200GB 수준의 latency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동일 메모리에서 1.75~2.19배 더 많은 사용자/분 처리 — 메모리가 작을수록 격차가 더 벌어짐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Eviction miss rate (Fig. 18)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queue-enhanced (CachedAttention)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  보다 miss rate -57.6%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LFU/LRU/FIFO 같은 일반 정책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  보다 miss rate -69.9%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EVALUATION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Tail latency · Ablation · Overhead</a:t>
            </a:r>
          </a:p>
        </p:txBody>
      </p:sp>
      <p:pic>
        <p:nvPicPr>
          <p:cNvPr id="3" name="Picture 2" descr="figur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16" y="1188720"/>
            <a:ext cx="4919808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3977640"/>
            <a:ext cx="5943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22. Tail latency P90 / P95 / P99 (OPT-30B)</a:t>
            </a:r>
          </a:p>
        </p:txBody>
      </p:sp>
      <p:pic>
        <p:nvPicPr>
          <p:cNvPr id="5" name="Picture 4" descr="figur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2743200" cy="12230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457463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21. Ablation</a:t>
            </a:r>
          </a:p>
        </p:txBody>
      </p:sp>
      <p:pic>
        <p:nvPicPr>
          <p:cNvPr id="7" name="Picture 6" descr="figure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188720"/>
            <a:ext cx="2651760" cy="934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0" y="2169435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  <a:ea typeface="맑은 고딕"/>
              </a:rPr>
              <a:t>Figure 20.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Tail latency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CachedAttention 대비 P90 −52.96% / P95 −49.30% / P99 −47.03%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Ablation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Scheduling +1.58배, Eviction +1.25배, Tensor caching +1.10배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Overhead</a:t>
            </a:r>
            <a:r>
              <a:rPr sz="1800" b="0" i="0">
                <a:solidFill>
                  <a:srgbClr val="1F2937"/>
                </a:solidFill>
                <a:latin typeface="Calibri"/>
                <a:ea typeface="맑은 고딕"/>
              </a:rPr>
              <a:t>    Scheduling 0.62 ms, Eviction 0.35 ms, KV transform &lt;0.1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alibri"/>
                <a:ea typeface="맑은 고딕"/>
              </a:rPr>
              <a:t>CONCLUSION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  <a:ea typeface="맑은 고딕"/>
              </a:rPr>
              <a:t>정리 · 한계 · 시사점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7033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33756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기여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compute와 storage 사이 양방향 정보 공유라는 설계 원칙을 제시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I/O-aware scheduling과 previous-answer-based eviction 두 메커니즘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MHA에서 storage-efficient tensor 캐싱으로 공간과 연산을 함께 절약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모델 5종 평균 latency 3.58배, throughput 1.83배 — Optimal에 근접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0" y="1188720"/>
            <a:ext cx="37033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280160"/>
            <a:ext cx="333756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한계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한 사용자 대화 내부의 KV 재사용만 다룸 — 사용자 간 공유는 범위 밖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GQA에서는 storage-efficient tensor의 이점이 사라짐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ShareGPT처럼 timestamp가 없는 trace에서는 eviction 효과가 약해짐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단일 GPU 노드 평가 — disaggregated · 멀티노드는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188720"/>
            <a:ext cx="37033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280160"/>
            <a:ext cx="333756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  <a:ea typeface="맑은 고딕"/>
              </a:rPr>
              <a:t>논의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대화 시스템에서 사용자가 글을 읽는 속도가 storage 정책의 유용한 신호가 된다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HRRN, Belady ghost cache 같은 고전 기법이 LLM 워크로드에서 다시 유효함을 보임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9352A"/>
                </a:solidFill>
                <a:latin typeface="Calibri"/>
                <a:ea typeface="맑은 고딕"/>
              </a:rPr>
              <a:t>▸ </a:t>
            </a:r>
            <a:r>
              <a:rPr sz="1400" b="0" i="0">
                <a:solidFill>
                  <a:srgbClr val="1F2937"/>
                </a:solidFill>
                <a:latin typeface="Calibri"/>
                <a:ea typeface="맑은 고딕"/>
              </a:rPr>
              <a:t>ML serving과 storage의 co-design 사례 — 후속 연구가 활발해질 분야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맑은 고딕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