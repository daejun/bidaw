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463040"/>
            <a:ext cx="10545775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707680"/>
                </a:solidFill>
                <a:latin typeface="Calibri"/>
                <a:ea typeface="맑은 고딕"/>
              </a:rPr>
              <a:t>FAST '26 PAPER SEMINAR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920240"/>
            <a:ext cx="10545775" cy="21945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 i="0">
                <a:solidFill>
                  <a:srgbClr val="1F2937"/>
                </a:solidFill>
                <a:latin typeface="Calibri"/>
                <a:ea typeface="맑은 고딕"/>
              </a:rPr>
              <a:t>Bidaw</a:t>
            </a:r>
          </a:p>
          <a:p>
            <a:pPr algn="l">
              <a:spcAft>
                <a:spcPts val="200"/>
              </a:spcAft>
            </a:pPr>
            <a:r>
              <a:rPr sz="2200" b="0" i="0">
                <a:solidFill>
                  <a:srgbClr val="222222"/>
                </a:solidFill>
                <a:latin typeface="Calibri"/>
                <a:ea typeface="맑은 고딕"/>
              </a:rPr>
              <a:t>Enhancing Key-Value Caching for Interactive LLM Serving</a:t>
            </a:r>
          </a:p>
          <a:p>
            <a:pPr algn="l">
              <a:spcAft>
                <a:spcPts val="400"/>
              </a:spcAft>
            </a:pPr>
            <a:r>
              <a:rPr sz="2200" b="0" i="0">
                <a:solidFill>
                  <a:srgbClr val="222222"/>
                </a:solidFill>
                <a:latin typeface="Calibri"/>
                <a:ea typeface="맑은 고딕"/>
              </a:rPr>
              <a:t>via Bidirectional Computation–Storage Awareness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22960" y="4160520"/>
            <a:ext cx="3291840" cy="0"/>
          </a:xfrm>
          <a:prstGeom prst="line">
            <a:avLst/>
          </a:prstGeom>
          <a:ln w="12700">
            <a:solidFill>
              <a:srgbClr val="D5D9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22960" y="4297680"/>
            <a:ext cx="10545775" cy="16459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222222"/>
                </a:solidFill>
                <a:latin typeface="Calibri"/>
                <a:ea typeface="맑은 고딕"/>
              </a:rPr>
              <a:t>Shipeng Hu, Guangyan Zhang (Tsinghua) · Yuqi Zhou (CUGB)</a:t>
            </a:r>
          </a:p>
          <a:p>
            <a:pPr algn="l">
              <a:spcAft>
                <a:spcPts val="1400"/>
              </a:spcAft>
            </a:pPr>
            <a:r>
              <a:rPr sz="1300" b="0" i="0">
                <a:solidFill>
                  <a:srgbClr val="222222"/>
                </a:solidFill>
                <a:latin typeface="Calibri"/>
                <a:ea typeface="맑은 고딕"/>
              </a:rPr>
              <a:t>Yaya Wei, Ziyan Zhong (China Telecom) · Jike Chen (Tsinghua)</a:t>
            </a:r>
          </a:p>
          <a:p>
            <a:pPr algn="l">
              <a:spcAft>
                <a:spcPts val="200"/>
              </a:spcAft>
            </a:pPr>
            <a:r>
              <a:rPr sz="1200" b="0" i="1">
                <a:solidFill>
                  <a:srgbClr val="707680"/>
                </a:solidFill>
                <a:latin typeface="Calibri"/>
                <a:ea typeface="맑은 고딕"/>
              </a:rPr>
              <a:t>24th USENIX Conference on File and Storage Technologies</a:t>
            </a:r>
          </a:p>
          <a:p>
            <a:pPr algn="l">
              <a:spcAft>
                <a:spcPts val="400"/>
              </a:spcAft>
            </a:pPr>
            <a:r>
              <a:rPr sz="1200" b="0" i="1">
                <a:solidFill>
                  <a:srgbClr val="707680"/>
                </a:solidFill>
                <a:latin typeface="Calibri"/>
                <a:ea typeface="맑은 고딕"/>
              </a:rPr>
              <a:t>February 24–26, 2026 · Santa Clara, 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035040"/>
            <a:ext cx="10545775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707680"/>
                </a:solidFill>
                <a:latin typeface="Calibri"/>
                <a:ea typeface="맑은 고딕"/>
              </a:rPr>
              <a:t>발표자: ____________   ·   세미나 일시: ____________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7772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707680"/>
                </a:solidFill>
                <a:latin typeface="Calibri"/>
                <a:ea typeface="맑은 고딕"/>
              </a:rPr>
              <a:t>AGENDA</a:t>
            </a:r>
          </a:p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1F2937"/>
                </a:solidFill>
                <a:latin typeface="Calibri"/>
                <a:ea typeface="맑은 고딕"/>
              </a:rPr>
              <a:t>발표 순서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143000"/>
            <a:ext cx="11277295" cy="0"/>
          </a:xfrm>
          <a:prstGeom prst="line">
            <a:avLst/>
          </a:prstGeom>
          <a:ln w="9525">
            <a:solidFill>
              <a:srgbClr val="D5D9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02920" y="1417320"/>
            <a:ext cx="594360" cy="5669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800" b="1" i="0">
                <a:solidFill>
                  <a:srgbClr val="707680"/>
                </a:solidFill>
                <a:latin typeface="Calibri"/>
                <a:ea typeface="맑은 고딕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1417320"/>
            <a:ext cx="10058400" cy="5669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1F2937"/>
                </a:solidFill>
                <a:latin typeface="Calibri"/>
                <a:ea typeface="맑은 고딕"/>
              </a:rPr>
              <a:t>Background</a:t>
            </a:r>
            <a:r>
              <a:rPr sz="1300" b="0" i="0">
                <a:solidFill>
                  <a:srgbClr val="222222"/>
                </a:solidFill>
                <a:latin typeface="Calibri"/>
                <a:ea typeface="맑은 고딕"/>
              </a:rPr>
              <a:t>    Interactive LLM serving과 KV cache의 역할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984248"/>
            <a:ext cx="594360" cy="5669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800" b="1" i="0">
                <a:solidFill>
                  <a:srgbClr val="707680"/>
                </a:solidFill>
                <a:latin typeface="Calibri"/>
                <a:ea typeface="맑은 고딕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1984248"/>
            <a:ext cx="10058400" cy="5669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1F2937"/>
                </a:solidFill>
                <a:latin typeface="Calibri"/>
                <a:ea typeface="맑은 고딕"/>
              </a:rPr>
              <a:t>Motivation</a:t>
            </a:r>
            <a:r>
              <a:rPr sz="1300" b="0" i="0">
                <a:solidFill>
                  <a:srgbClr val="222222"/>
                </a:solidFill>
                <a:latin typeface="Calibri"/>
                <a:ea typeface="맑은 고딕"/>
              </a:rPr>
              <a:t>    KV loading 병목, 그리고 세 가지 워크로드 관찰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51176"/>
            <a:ext cx="594360" cy="5669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800" b="1" i="0">
                <a:solidFill>
                  <a:srgbClr val="707680"/>
                </a:solidFill>
                <a:latin typeface="Calibri"/>
                <a:ea typeface="맑은 고딕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551176"/>
            <a:ext cx="10058400" cy="5669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1F2937"/>
                </a:solidFill>
                <a:latin typeface="Calibri"/>
                <a:ea typeface="맑은 고딕"/>
              </a:rPr>
              <a:t>Key Idea</a:t>
            </a:r>
            <a:r>
              <a:rPr sz="1300" b="0" i="0">
                <a:solidFill>
                  <a:srgbClr val="222222"/>
                </a:solidFill>
                <a:latin typeface="Calibri"/>
                <a:ea typeface="맑은 고딕"/>
              </a:rPr>
              <a:t>    Bidirectional computation–storage awareness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3118104"/>
            <a:ext cx="594360" cy="5669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800" b="1" i="0">
                <a:solidFill>
                  <a:srgbClr val="707680"/>
                </a:solidFill>
                <a:latin typeface="Calibri"/>
                <a:ea typeface="맑은 고딕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118104"/>
            <a:ext cx="10058400" cy="5669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1F2937"/>
                </a:solidFill>
                <a:latin typeface="Calibri"/>
                <a:ea typeface="맑은 고딕"/>
              </a:rPr>
              <a:t>Mechanism 1</a:t>
            </a:r>
            <a:r>
              <a:rPr sz="1300" b="0" i="0">
                <a:solidFill>
                  <a:srgbClr val="222222"/>
                </a:solidFill>
                <a:latin typeface="Calibri"/>
                <a:ea typeface="맑은 고딕"/>
              </a:rPr>
              <a:t>    I/O-aware request scheduling (compute side)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3685032"/>
            <a:ext cx="594360" cy="5669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800" b="1" i="0">
                <a:solidFill>
                  <a:srgbClr val="707680"/>
                </a:solidFill>
                <a:latin typeface="Calibri"/>
                <a:ea typeface="맑은 고딕"/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3685032"/>
            <a:ext cx="10058400" cy="5669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1F2937"/>
                </a:solidFill>
                <a:latin typeface="Calibri"/>
                <a:ea typeface="맑은 고딕"/>
              </a:rPr>
              <a:t>Mechanism 2</a:t>
            </a:r>
            <a:r>
              <a:rPr sz="1300" b="0" i="0">
                <a:solidFill>
                  <a:srgbClr val="222222"/>
                </a:solidFill>
                <a:latin typeface="Calibri"/>
                <a:ea typeface="맑은 고딕"/>
              </a:rPr>
              <a:t>    Previous-answer-based eviction (storage side)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4251960"/>
            <a:ext cx="594360" cy="5669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800" b="1" i="0">
                <a:solidFill>
                  <a:srgbClr val="707680"/>
                </a:solidFill>
                <a:latin typeface="Calibri"/>
                <a:ea typeface="맑은 고딕"/>
              </a:rPr>
              <a:t>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4251960"/>
            <a:ext cx="10058400" cy="5669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1F2937"/>
                </a:solidFill>
                <a:latin typeface="Calibri"/>
                <a:ea typeface="맑은 고딕"/>
              </a:rPr>
              <a:t>Mechanism 3</a:t>
            </a:r>
            <a:r>
              <a:rPr sz="1300" b="0" i="0">
                <a:solidFill>
                  <a:srgbClr val="222222"/>
                </a:solidFill>
                <a:latin typeface="Calibri"/>
                <a:ea typeface="맑은 고딕"/>
              </a:rPr>
              <a:t>    Storage-efficient tensor caching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4818888"/>
            <a:ext cx="594360" cy="5669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800" b="1" i="0">
                <a:solidFill>
                  <a:srgbClr val="707680"/>
                </a:solidFill>
                <a:latin typeface="Calibri"/>
                <a:ea typeface="맑은 고딕"/>
              </a:rPr>
              <a:t>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4818888"/>
            <a:ext cx="10058400" cy="5669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1F2937"/>
                </a:solidFill>
                <a:latin typeface="Calibri"/>
                <a:ea typeface="맑은 고딕"/>
              </a:rPr>
              <a:t>Evaluation</a:t>
            </a:r>
            <a:r>
              <a:rPr sz="1300" b="0" i="0">
                <a:solidFill>
                  <a:srgbClr val="222222"/>
                </a:solidFill>
                <a:latin typeface="Calibri"/>
                <a:ea typeface="맑은 고딕"/>
              </a:rPr>
              <a:t>    5개 모델 · 50분간 토크의 핵심 plot 7개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5385816"/>
            <a:ext cx="594360" cy="5669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800" b="1" i="0">
                <a:solidFill>
                  <a:srgbClr val="707680"/>
                </a:solidFill>
                <a:latin typeface="Calibri"/>
                <a:ea typeface="맑은 고딕"/>
              </a:rPr>
              <a:t>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5385816"/>
            <a:ext cx="10058400" cy="5669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1F2937"/>
                </a:solidFill>
                <a:latin typeface="Calibri"/>
                <a:ea typeface="맑은 고딕"/>
              </a:rPr>
              <a:t>Discussion</a:t>
            </a:r>
            <a:r>
              <a:rPr sz="1300" b="0" i="0">
                <a:solidFill>
                  <a:srgbClr val="222222"/>
                </a:solidFill>
                <a:latin typeface="Calibri"/>
                <a:ea typeface="맑은 고딕"/>
              </a:rPr>
              <a:t>    한계, 일반화 가능성, takeaway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57200" y="6537960"/>
            <a:ext cx="11277295" cy="0"/>
          </a:xfrm>
          <a:prstGeom prst="line">
            <a:avLst/>
          </a:prstGeom>
          <a:ln w="12700">
            <a:solidFill>
              <a:srgbClr val="D5D9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57200" y="656539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707680"/>
                </a:solidFill>
                <a:latin typeface="Calibri"/>
                <a:ea typeface="맑은 고딕"/>
              </a:rPr>
              <a:t>Bidaw — FAST '26 paper seminar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362895" y="6565392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707680"/>
                </a:solidFill>
                <a:latin typeface="Calibri"/>
                <a:ea typeface="맑은 고딕"/>
              </a:rPr>
              <a:t>2 / 30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7772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707680"/>
                </a:solidFill>
                <a:latin typeface="Calibri"/>
                <a:ea typeface="맑은 고딕"/>
              </a:rPr>
              <a:t>BACKGROUND</a:t>
            </a:r>
          </a:p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1F2937"/>
                </a:solidFill>
                <a:latin typeface="Calibri"/>
                <a:ea typeface="맑은 고딕"/>
              </a:rPr>
              <a:t>Interactive LLM serving — 멀티 라운드 대화 패턴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143000"/>
            <a:ext cx="11277295" cy="0"/>
          </a:xfrm>
          <a:prstGeom prst="line">
            <a:avLst/>
          </a:prstGeom>
          <a:ln w="9525">
            <a:solidFill>
              <a:srgbClr val="D5D9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figure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188720"/>
            <a:ext cx="5760720" cy="163253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126480" y="2866978"/>
            <a:ext cx="576072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1">
                <a:solidFill>
                  <a:srgbClr val="707680"/>
                </a:solidFill>
                <a:latin typeface="Calibri"/>
                <a:ea typeface="맑은 고딕"/>
              </a:rPr>
              <a:t>Figure 1. 각 라운드의 답변은 이전 라운드들의 KV tensor에 의존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5486400" cy="5029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1F2937"/>
                </a:solidFill>
                <a:latin typeface="Calibri"/>
                <a:ea typeface="맑은 고딕"/>
              </a:rPr>
              <a:t>사례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444444"/>
                </a:solidFill>
                <a:latin typeface="Calibri"/>
                <a:ea typeface="맑은 고딕"/>
              </a:rPr>
              <a:t>•  </a:t>
            </a:r>
            <a:r>
              <a:rPr sz="1300" b="0" i="0">
                <a:solidFill>
                  <a:srgbClr val="222222"/>
                </a:solidFill>
                <a:latin typeface="Calibri"/>
                <a:ea typeface="맑은 고딕"/>
              </a:rPr>
              <a:t>Replika · Duolingo · 고객 응대 챗봇처럼 사용자가 LLM과 번갈아 대화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444444"/>
                </a:solidFill>
                <a:latin typeface="Calibri"/>
                <a:ea typeface="맑은 고딕"/>
              </a:rPr>
              <a:t>•  </a:t>
            </a:r>
            <a:r>
              <a:rPr sz="1300" b="0" i="0">
                <a:solidFill>
                  <a:srgbClr val="222222"/>
                </a:solidFill>
                <a:latin typeface="Calibri"/>
                <a:ea typeface="맑은 고딕"/>
              </a:rPr>
              <a:t>한 사용자가 평균 22.4 라운드, 중간값 18, P90 = 45 라운드까지 진행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444444"/>
                </a:solidFill>
                <a:latin typeface="Calibri"/>
                <a:ea typeface="맑은 고딕"/>
              </a:rPr>
              <a:t>•  </a:t>
            </a:r>
            <a:r>
              <a:rPr sz="1300" b="0" i="0">
                <a:solidFill>
                  <a:srgbClr val="222222"/>
                </a:solidFill>
                <a:latin typeface="Calibri"/>
                <a:ea typeface="맑은 고딕"/>
              </a:rPr>
              <a:t>사용자별 대화 지속 시간은 평균 분 단위, 길게는 60분 이상도 발생</a:t>
            </a:r>
          </a:p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1F2937"/>
                </a:solidFill>
                <a:latin typeface="Calibri"/>
                <a:ea typeface="맑은 고딕"/>
              </a:rPr>
              <a:t>기술적 핵심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444444"/>
                </a:solidFill>
                <a:latin typeface="Calibri"/>
                <a:ea typeface="맑은 고딕"/>
              </a:rPr>
              <a:t>•  </a:t>
            </a:r>
            <a:r>
              <a:rPr sz="1300" b="0" i="0">
                <a:solidFill>
                  <a:srgbClr val="222222"/>
                </a:solidFill>
                <a:latin typeface="Calibri"/>
                <a:ea typeface="맑은 고딕"/>
              </a:rPr>
              <a:t>라운드 N 응답은 0..N-1 라운드 KV 를 attention 입력으로 재사용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444444"/>
                </a:solidFill>
                <a:latin typeface="Calibri"/>
                <a:ea typeface="맑은 고딕"/>
              </a:rPr>
              <a:t>•  </a:t>
            </a:r>
            <a:r>
              <a:rPr sz="1300" b="0" i="0">
                <a:solidFill>
                  <a:srgbClr val="222222"/>
                </a:solidFill>
                <a:latin typeface="Calibri"/>
                <a:ea typeface="맑은 고딕"/>
              </a:rPr>
              <a:t>재계산은 GPU FLOPs를 매번 태움 → KV caching이 필수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6537960"/>
            <a:ext cx="11277295" cy="0"/>
          </a:xfrm>
          <a:prstGeom prst="line">
            <a:avLst/>
          </a:prstGeom>
          <a:ln w="12700">
            <a:solidFill>
              <a:srgbClr val="D5D9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57200" y="656539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707680"/>
                </a:solidFill>
                <a:latin typeface="Calibri"/>
                <a:ea typeface="맑은 고딕"/>
              </a:rPr>
              <a:t>Bidaw — FAST '26 paper seminar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62895" y="6565392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707680"/>
                </a:solidFill>
                <a:latin typeface="Calibri"/>
                <a:ea typeface="맑은 고딕"/>
              </a:rPr>
              <a:t>3 / 30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7772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707680"/>
                </a:solidFill>
                <a:latin typeface="Calibri"/>
                <a:ea typeface="맑은 고딕"/>
              </a:rPr>
              <a:t>BACKGROUND</a:t>
            </a:r>
          </a:p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1F2937"/>
                </a:solidFill>
                <a:latin typeface="Calibri"/>
                <a:ea typeface="맑은 고딕"/>
              </a:rPr>
              <a:t>KV cache의 역할 — attention 재계산을 막는 핵심 자료구조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143000"/>
            <a:ext cx="11277295" cy="0"/>
          </a:xfrm>
          <a:prstGeom prst="line">
            <a:avLst/>
          </a:prstGeom>
          <a:ln w="9525">
            <a:solidFill>
              <a:srgbClr val="D5D9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6126480" y="1280160"/>
            <a:ext cx="55778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9360" y="1463040"/>
            <a:ext cx="5212080" cy="40233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F2937"/>
                </a:solidFill>
                <a:latin typeface="Calibri"/>
                <a:ea typeface="맑은 고딕"/>
              </a:rPr>
              <a:t>Self-attention(요점)</a:t>
            </a:r>
          </a:p>
          <a:p>
            <a:pPr algn="l">
              <a:spcAft>
                <a:spcPts val="1000"/>
              </a:spcAft>
            </a:pPr>
            <a:r>
              <a:rPr sz="1300" b="0" i="0">
                <a:solidFill>
                  <a:srgbClr val="222222"/>
                </a:solidFill>
                <a:latin typeface="Consolas"/>
                <a:ea typeface="맑은 고딕"/>
              </a:rPr>
              <a:t>Attention(Q,K,V) = softmax(Q·K^T / sqrt(d))·V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222222"/>
                </a:solidFill>
                <a:latin typeface="Calibri"/>
                <a:ea typeface="맑은 고딕"/>
              </a:rPr>
              <a:t>▸ 새 토큰 1개의 Q만 새로 계산</a:t>
            </a:r>
          </a:p>
          <a:p>
            <a:pPr algn="l">
              <a:spcAft>
                <a:spcPts val="1000"/>
              </a:spcAft>
            </a:pPr>
            <a:r>
              <a:rPr sz="1300" b="0" i="0">
                <a:solidFill>
                  <a:srgbClr val="222222"/>
                </a:solidFill>
                <a:latin typeface="Calibri"/>
                <a:ea typeface="맑은 고딕"/>
              </a:rPr>
              <a:t>▸ 과거 토큰의 K, V는 변하지 않음 → </a:t>
            </a:r>
            <a:r>
              <a:rPr sz="1300" b="1" i="0">
                <a:solidFill>
                  <a:srgbClr val="444444"/>
                </a:solidFill>
                <a:latin typeface="Calibri"/>
                <a:ea typeface="맑은 고딕"/>
              </a:rPr>
              <a:t>재사용 가능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707680"/>
                </a:solidFill>
                <a:latin typeface="Calibri"/>
                <a:ea typeface="맑은 고딕"/>
              </a:rPr>
              <a:t>토큰 t개 · 레이어 L · 헤드 h · head_dim d 일 때</a:t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222222"/>
                </a:solidFill>
                <a:latin typeface="Consolas"/>
                <a:ea typeface="맑은 고딕"/>
              </a:rPr>
              <a:t>KV size = 2 · t · L · h · d · sizeof(dtype)</a:t>
            </a:r>
          </a:p>
          <a:p>
            <a:pPr algn="l">
              <a:spcAft>
                <a:spcPts val="400"/>
              </a:spcAft>
            </a:pPr>
            <a:r>
              <a:rPr sz="1300" b="0" i="1">
                <a:solidFill>
                  <a:srgbClr val="707680"/>
                </a:solidFill>
                <a:latin typeface="Calibri"/>
                <a:ea typeface="맑은 고딕"/>
              </a:rPr>
              <a:t>예: OPT-13B, 2,048 토큰 → 약 0.78 GB / user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5852160" cy="5120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F2937"/>
                </a:solidFill>
                <a:latin typeface="Calibri"/>
                <a:ea typeface="맑은 고딕"/>
              </a:rPr>
              <a:t>왜 KV cache 인가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444444"/>
                </a:solidFill>
                <a:latin typeface="Calibri"/>
                <a:ea typeface="맑은 고딕"/>
              </a:rPr>
              <a:t>•  </a:t>
            </a:r>
            <a:r>
              <a:rPr sz="1300" b="0" i="0">
                <a:solidFill>
                  <a:srgbClr val="222222"/>
                </a:solidFill>
                <a:latin typeface="Calibri"/>
                <a:ea typeface="맑은 고딕"/>
              </a:rPr>
              <a:t>재계산을 안 하면 </a:t>
            </a:r>
            <a:r>
              <a:rPr sz="1300" b="1" i="0">
                <a:solidFill>
                  <a:srgbClr val="222222"/>
                </a:solidFill>
                <a:latin typeface="Calibri"/>
                <a:ea typeface="맑은 고딕"/>
              </a:rPr>
              <a:t>응답 latency가 곧바로 줄어든다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444444"/>
                </a:solidFill>
                <a:latin typeface="Calibri"/>
                <a:ea typeface="맑은 고딕"/>
              </a:rPr>
              <a:t>•  </a:t>
            </a:r>
            <a:r>
              <a:rPr sz="1300" b="0" i="0">
                <a:solidFill>
                  <a:srgbClr val="222222"/>
                </a:solidFill>
                <a:latin typeface="Calibri"/>
                <a:ea typeface="맑은 고딕"/>
              </a:rPr>
              <a:t>저장 비용이 매우 큼 </a:t>
            </a:r>
            <a:r>
              <a:rPr sz="1300" b="1" i="0">
                <a:solidFill>
                  <a:srgbClr val="222222"/>
                </a:solidFill>
                <a:latin typeface="Calibri"/>
                <a:ea typeface="맑은 고딕"/>
              </a:rPr>
              <a:t>→ 효율적 관리가 시스템 설계의 1번 과제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444444"/>
                </a:solidFill>
                <a:latin typeface="Calibri"/>
                <a:ea typeface="맑은 고딕"/>
              </a:rPr>
              <a:t>•  </a:t>
            </a:r>
            <a:r>
              <a:rPr sz="1300" b="0" i="0">
                <a:solidFill>
                  <a:srgbClr val="222222"/>
                </a:solidFill>
                <a:latin typeface="Calibri"/>
                <a:ea typeface="맑은 고딕"/>
              </a:rPr>
              <a:t>vLLM, PagedAttention 류 가속 시스템도 </a:t>
            </a:r>
            <a:r>
              <a:rPr sz="1300" b="1" i="0">
                <a:solidFill>
                  <a:srgbClr val="222222"/>
                </a:solidFill>
                <a:latin typeface="Calibri"/>
                <a:ea typeface="맑은 고딕"/>
              </a:rPr>
              <a:t>결국 KV cache 관리가 핵심</a:t>
            </a:r>
          </a:p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1F2937"/>
                </a:solidFill>
                <a:latin typeface="Calibri"/>
                <a:ea typeface="맑은 고딕"/>
              </a:rPr>
              <a:t>이번 논문의 KV는?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222222"/>
                </a:solidFill>
                <a:latin typeface="Calibri"/>
                <a:ea typeface="맑은 고딕"/>
              </a:rPr>
              <a:t>▸ 한 사용자의 </a:t>
            </a:r>
            <a:r>
              <a:rPr sz="1300" b="1" i="0">
                <a:solidFill>
                  <a:srgbClr val="444444"/>
                </a:solidFill>
                <a:latin typeface="Calibri"/>
                <a:ea typeface="맑은 고딕"/>
              </a:rPr>
              <a:t>여러 라운드 대화 KV</a:t>
            </a:r>
            <a:r>
              <a:rPr sz="1300" b="0" i="0">
                <a:solidFill>
                  <a:srgbClr val="222222"/>
                </a:solidFill>
                <a:latin typeface="Calibri"/>
                <a:ea typeface="맑은 고딕"/>
              </a:rPr>
              <a:t>를 보존 — cross-user KV 공유는 범위 밖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6537960"/>
            <a:ext cx="11277295" cy="0"/>
          </a:xfrm>
          <a:prstGeom prst="line">
            <a:avLst/>
          </a:prstGeom>
          <a:ln w="12700">
            <a:solidFill>
              <a:srgbClr val="D5D9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57200" y="656539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707680"/>
                </a:solidFill>
                <a:latin typeface="Calibri"/>
                <a:ea typeface="맑은 고딕"/>
              </a:rPr>
              <a:t>Bidaw — FAST '26 paper seminar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62895" y="6565392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707680"/>
                </a:solidFill>
                <a:latin typeface="Calibri"/>
                <a:ea typeface="맑은 고딕"/>
              </a:rPr>
              <a:t>4 / 30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7772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707680"/>
                </a:solidFill>
                <a:latin typeface="Calibri"/>
                <a:ea typeface="맑은 고딕"/>
              </a:rPr>
              <a:t>BACKGROUND</a:t>
            </a:r>
          </a:p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1F2937"/>
                </a:solidFill>
                <a:latin typeface="Calibri"/>
                <a:ea typeface="맑은 고딕"/>
              </a:rPr>
              <a:t>왜 GPU 메모리에 다 못 두는가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143000"/>
            <a:ext cx="11277295" cy="0"/>
          </a:xfrm>
          <a:prstGeom prst="line">
            <a:avLst/>
          </a:prstGeom>
          <a:ln w="9525">
            <a:solidFill>
              <a:srgbClr val="D5D9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figure_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188720"/>
            <a:ext cx="5760720" cy="306257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126480" y="4297012"/>
            <a:ext cx="576072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1">
                <a:solidFill>
                  <a:srgbClr val="707680"/>
                </a:solidFill>
                <a:latin typeface="Calibri"/>
                <a:ea typeface="맑은 고딕"/>
              </a:rPr>
              <a:t>Figure 5. 사용자 도착률 vs 동시 캐시 KV 총량 (perf layer 200GB 기준)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5486400" cy="5120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444444"/>
                </a:solidFill>
                <a:latin typeface="Calibri"/>
                <a:ea typeface="맑은 고딕"/>
              </a:rPr>
              <a:t>•  </a:t>
            </a:r>
            <a:r>
              <a:rPr sz="1300" b="1" i="0">
                <a:solidFill>
                  <a:srgbClr val="222222"/>
                </a:solidFill>
                <a:latin typeface="Calibri"/>
                <a:ea typeface="맑은 고딕"/>
              </a:rPr>
              <a:t>80GB A800 GPU 1장 </a:t>
            </a:r>
            <a:r>
              <a:rPr sz="1300" b="0" i="0">
                <a:solidFill>
                  <a:srgbClr val="222222"/>
                </a:solidFill>
                <a:latin typeface="Calibri"/>
                <a:ea typeface="맑은 고딕"/>
              </a:rPr>
              <a:t>→ KV가 곧바로 GPU 메모리를 점유</a:t>
            </a:r>
          </a:p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444444"/>
                </a:solidFill>
                <a:latin typeface="Calibri"/>
                <a:ea typeface="맑은 고딕"/>
              </a:rPr>
              <a:t>•  </a:t>
            </a:r>
            <a:r>
              <a:rPr sz="1300" b="1" i="0">
                <a:solidFill>
                  <a:srgbClr val="222222"/>
                </a:solidFill>
                <a:latin typeface="Calibri"/>
                <a:ea typeface="맑은 고딕"/>
              </a:rPr>
              <a:t>30 users/min 도착 시 </a:t>
            </a:r>
            <a:r>
              <a:rPr sz="1300" b="0" i="0">
                <a:solidFill>
                  <a:srgbClr val="222222"/>
                </a:solidFill>
                <a:latin typeface="Calibri"/>
                <a:ea typeface="맑은 고딕"/>
              </a:rPr>
              <a:t>OPT-13B 동시 캐시 KV ≈ 480 GB</a:t>
            </a:r>
          </a:p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444444"/>
                </a:solidFill>
                <a:latin typeface="Calibri"/>
                <a:ea typeface="맑은 고딕"/>
              </a:rPr>
              <a:t>•  </a:t>
            </a:r>
            <a:r>
              <a:rPr sz="1300" b="1" i="0">
                <a:solidFill>
                  <a:srgbClr val="222222"/>
                </a:solidFill>
                <a:latin typeface="Calibri"/>
                <a:ea typeface="맑은 고딕"/>
              </a:rPr>
              <a:t>LLM 서버 host memory </a:t>
            </a:r>
            <a:r>
              <a:rPr sz="1300" b="0" i="0">
                <a:solidFill>
                  <a:srgbClr val="222222"/>
                </a:solidFill>
                <a:latin typeface="Calibri"/>
                <a:ea typeface="맑은 고딕"/>
              </a:rPr>
              <a:t>≈ GPU mem 의 1.6–3.2×</a:t>
            </a:r>
          </a:p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444444"/>
                </a:solidFill>
                <a:latin typeface="Calibri"/>
                <a:ea typeface="맑은 고딕"/>
              </a:rPr>
              <a:t>•  </a:t>
            </a:r>
            <a:r>
              <a:rPr sz="1300" b="1" i="0">
                <a:solidFill>
                  <a:srgbClr val="222222"/>
                </a:solidFill>
                <a:latin typeface="Calibri"/>
                <a:ea typeface="맑은 고딕"/>
              </a:rPr>
              <a:t>→ host memory </a:t>
            </a:r>
            <a:r>
              <a:rPr sz="1300" b="0" i="0">
                <a:solidFill>
                  <a:srgbClr val="222222"/>
                </a:solidFill>
                <a:latin typeface="Calibri"/>
                <a:ea typeface="맑은 고딕"/>
              </a:rPr>
              <a:t>도 부족, capacity SSD 도 사용해야 함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4754880"/>
            <a:ext cx="5486400" cy="1463040"/>
          </a:xfrm>
          <a:prstGeom prst="rect">
            <a:avLst/>
          </a:prstGeom>
          <a:solidFill>
            <a:srgbClr val="FFFFFF"/>
          </a:solidFill>
          <a:ln w="6350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4846320"/>
            <a:ext cx="5120640" cy="12801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  <a:ea typeface="맑은 고딕"/>
              </a:rPr>
              <a:t>동시 캐시 KV는 perf layer를 </a:t>
            </a:r>
            <a:r>
              <a:rPr sz="2200" b="1" i="0">
                <a:solidFill>
                  <a:srgbClr val="444444"/>
                </a:solidFill>
                <a:latin typeface="Calibri"/>
                <a:ea typeface="맑은 고딕"/>
              </a:rPr>
              <a:t>최대 3.91×</a:t>
            </a:r>
            <a:r>
              <a:rPr sz="1600" b="0" i="0">
                <a:solidFill>
                  <a:srgbClr val="222222"/>
                </a:solidFill>
                <a:latin typeface="Calibri"/>
                <a:ea typeface="맑은 고딕"/>
              </a:rPr>
              <a:t> 초과</a:t>
            </a:r>
          </a:p>
          <a:p>
            <a:pPr algn="l">
              <a:spcAft>
                <a:spcPts val="400"/>
              </a:spcAft>
            </a:pPr>
            <a:r>
              <a:rPr sz="1300" b="0" i="1">
                <a:solidFill>
                  <a:srgbClr val="707680"/>
                </a:solidFill>
                <a:latin typeface="Calibri"/>
                <a:ea typeface="맑은 고딕"/>
              </a:rPr>
              <a:t>→ 2-tier (host memory + SSD) 캐싱이 필연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6537960"/>
            <a:ext cx="11277295" cy="0"/>
          </a:xfrm>
          <a:prstGeom prst="line">
            <a:avLst/>
          </a:prstGeom>
          <a:ln w="12700">
            <a:solidFill>
              <a:srgbClr val="D5D9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6539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707680"/>
                </a:solidFill>
                <a:latin typeface="Calibri"/>
                <a:ea typeface="맑은 고딕"/>
              </a:rPr>
              <a:t>Bidaw — FAST '26 paper seminar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62895" y="6565392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707680"/>
                </a:solidFill>
                <a:latin typeface="Calibri"/>
                <a:ea typeface="맑은 고딕"/>
              </a:rPr>
              <a:t>5 / 30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7772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707680"/>
                </a:solidFill>
                <a:latin typeface="Calibri"/>
                <a:ea typeface="맑은 고딕"/>
              </a:rPr>
              <a:t>BACKGROUND</a:t>
            </a:r>
          </a:p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1F2937"/>
                </a:solidFill>
                <a:latin typeface="Calibri"/>
                <a:ea typeface="맑은 고딕"/>
              </a:rPr>
              <a:t>기존 솔루션 — Two-tier storage caching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143000"/>
            <a:ext cx="11277295" cy="0"/>
          </a:xfrm>
          <a:prstGeom prst="line">
            <a:avLst/>
          </a:prstGeom>
          <a:ln w="9525">
            <a:solidFill>
              <a:srgbClr val="D5D9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figure_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6858000" cy="286289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4097331"/>
            <a:ext cx="68580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1">
                <a:solidFill>
                  <a:srgbClr val="707680"/>
                </a:solidFill>
                <a:latin typeface="Calibri"/>
                <a:ea typeface="맑은 고딕"/>
              </a:rPr>
              <a:t>Figure 2. Compute engine ↔ two-tier storage 구조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79" y="1188720"/>
            <a:ext cx="4297680" cy="5120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 i="0">
                <a:solidFill>
                  <a:srgbClr val="1F2937"/>
                </a:solidFill>
                <a:latin typeface="Calibri"/>
                <a:ea typeface="맑은 고딕"/>
              </a:rPr>
              <a:t>Performance layer</a:t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707680"/>
                </a:solidFill>
                <a:latin typeface="Calibri"/>
                <a:ea typeface="맑은 고딕"/>
              </a:rPr>
              <a:t>Host DRAM, 빠르지만 용량 한정</a:t>
            </a:r>
          </a:p>
          <a:p>
            <a:pPr algn="l">
              <a:spcAft>
                <a:spcPts val="200"/>
              </a:spcAft>
            </a:pPr>
            <a:r>
              <a:rPr sz="1600" b="1" i="0">
                <a:solidFill>
                  <a:srgbClr val="1F2937"/>
                </a:solidFill>
                <a:latin typeface="Calibri"/>
                <a:ea typeface="맑은 고딕"/>
              </a:rPr>
              <a:t>Capacity layer</a:t>
            </a:r>
          </a:p>
          <a:p>
            <a:pPr algn="l">
              <a:spcAft>
                <a:spcPts val="1000"/>
              </a:spcAft>
            </a:pPr>
            <a:r>
              <a:rPr sz="1300" b="0" i="0">
                <a:solidFill>
                  <a:srgbClr val="707680"/>
                </a:solidFill>
                <a:latin typeface="Calibri"/>
                <a:ea typeface="맑은 고딕"/>
              </a:rPr>
              <a:t>SSD (RAID-5, 본 논문은 1.5 GB/s)</a:t>
            </a:r>
          </a:p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1F2937"/>
                </a:solidFill>
                <a:latin typeface="Calibri"/>
                <a:ea typeface="맑은 고딕"/>
              </a:rPr>
              <a:t>대표 선행 시스템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444444"/>
                </a:solidFill>
                <a:latin typeface="Calibri"/>
                <a:ea typeface="맑은 고딕"/>
              </a:rPr>
              <a:t>▸ </a:t>
            </a:r>
            <a:r>
              <a:rPr sz="1300" b="1" i="0">
                <a:solidFill>
                  <a:srgbClr val="222222"/>
                </a:solidFill>
                <a:latin typeface="Calibri"/>
                <a:ea typeface="맑은 고딕"/>
              </a:rPr>
              <a:t>CachedAttention</a:t>
            </a:r>
            <a:r>
              <a:rPr sz="1200" b="0" i="0">
                <a:solidFill>
                  <a:srgbClr val="707680"/>
                </a:solidFill>
                <a:latin typeface="Calibri"/>
                <a:ea typeface="맑은 고딕"/>
              </a:rPr>
              <a:t>  [ATC ’24] queue-enhanced LRU eviction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444444"/>
                </a:solidFill>
                <a:latin typeface="Calibri"/>
                <a:ea typeface="맑은 고딕"/>
              </a:rPr>
              <a:t>▸ </a:t>
            </a:r>
            <a:r>
              <a:rPr sz="1300" b="1" i="0">
                <a:solidFill>
                  <a:srgbClr val="222222"/>
                </a:solidFill>
                <a:latin typeface="Calibri"/>
                <a:ea typeface="맑은 고딕"/>
              </a:rPr>
              <a:t>FlashGen</a:t>
            </a:r>
            <a:r>
              <a:rPr sz="1200" b="0" i="0">
                <a:solidFill>
                  <a:srgbClr val="707680"/>
                </a:solidFill>
                <a:latin typeface="Calibri"/>
                <a:ea typeface="맑은 고딕"/>
              </a:rPr>
              <a:t>  [FAST ’25] inclusive caching + GPU-fit scheduling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444444"/>
                </a:solidFill>
                <a:latin typeface="Calibri"/>
                <a:ea typeface="맑은 고딕"/>
              </a:rPr>
              <a:t>▸ </a:t>
            </a:r>
            <a:r>
              <a:rPr sz="1300" b="1" i="0">
                <a:solidFill>
                  <a:srgbClr val="222222"/>
                </a:solidFill>
                <a:latin typeface="Calibri"/>
                <a:ea typeface="맑은 고딕"/>
              </a:rPr>
              <a:t>HCache</a:t>
            </a:r>
            <a:r>
              <a:rPr sz="1200" b="0" i="0">
                <a:solidFill>
                  <a:srgbClr val="707680"/>
                </a:solidFill>
                <a:latin typeface="Calibri"/>
                <a:ea typeface="맑은 고딕"/>
              </a:rPr>
              <a:t>  [EuroSys ’25] intermediate activation 캐싱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212080"/>
            <a:ext cx="6858000" cy="1188720"/>
          </a:xfrm>
          <a:prstGeom prst="rect">
            <a:avLst/>
          </a:prstGeom>
          <a:solidFill>
            <a:srgbClr val="FFFFFF"/>
          </a:solidFill>
          <a:ln w="6350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303520"/>
            <a:ext cx="64922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222222"/>
                </a:solidFill>
                <a:latin typeface="Calibri"/>
                <a:ea typeface="맑은 고딕"/>
              </a:rPr>
              <a:t>쓰기는 백그라운드, 그러나 읽기(load)는 </a:t>
            </a:r>
            <a:r>
              <a:rPr sz="1300" b="1" i="0">
                <a:solidFill>
                  <a:srgbClr val="444444"/>
                </a:solidFill>
                <a:latin typeface="Calibri"/>
                <a:ea typeface="맑은 고딕"/>
              </a:rPr>
              <a:t>critical path 위에 놓여 있다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6537960"/>
            <a:ext cx="11277295" cy="0"/>
          </a:xfrm>
          <a:prstGeom prst="line">
            <a:avLst/>
          </a:prstGeom>
          <a:ln w="12700">
            <a:solidFill>
              <a:srgbClr val="D5D9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6539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707680"/>
                </a:solidFill>
                <a:latin typeface="Calibri"/>
                <a:ea typeface="맑은 고딕"/>
              </a:rPr>
              <a:t>Bidaw — FAST '26 paper seminar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62895" y="6565392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707680"/>
                </a:solidFill>
                <a:latin typeface="Calibri"/>
                <a:ea typeface="맑은 고딕"/>
              </a:rPr>
              <a:t>6 / 30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7772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707680"/>
                </a:solidFill>
                <a:latin typeface="Calibri"/>
                <a:ea typeface="맑은 고딕"/>
              </a:rPr>
              <a:t>BACKGROUND</a:t>
            </a:r>
          </a:p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1F2937"/>
                </a:solidFill>
                <a:latin typeface="Calibri"/>
                <a:ea typeface="맑은 고딕"/>
              </a:rPr>
              <a:t>그러나 KV loading 자체가 병목 — 이상치와의 큰 격차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143000"/>
            <a:ext cx="11277295" cy="0"/>
          </a:xfrm>
          <a:prstGeom prst="line">
            <a:avLst/>
          </a:prstGeom>
          <a:ln w="9525">
            <a:solidFill>
              <a:srgbClr val="D5D9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figure_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7132320" cy="34977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4732184"/>
            <a:ext cx="713232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1">
                <a:solidFill>
                  <a:srgbClr val="707680"/>
                </a:solidFill>
                <a:latin typeface="Calibri"/>
                <a:ea typeface="맑은 고딕"/>
              </a:rPr>
              <a:t>Figure 3. KV recompute / 기존 cache / Ideal cache 의 latency 비교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63840" y="1280160"/>
            <a:ext cx="4023360" cy="5029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1F2937"/>
                </a:solidFill>
                <a:latin typeface="Calibri"/>
                <a:ea typeface="맑은 고딕"/>
              </a:rPr>
              <a:t>측정 환경</a:t>
            </a:r>
          </a:p>
          <a:p>
            <a:pPr algn="l">
              <a:spcAft>
                <a:spcPts val="1000"/>
              </a:spcAft>
            </a:pPr>
            <a:r>
              <a:rPr sz="1200" b="0" i="0">
                <a:solidFill>
                  <a:srgbClr val="707680"/>
                </a:solidFill>
                <a:latin typeface="Calibri"/>
                <a:ea typeface="맑은 고딕"/>
              </a:rPr>
              <a:t>OPT-13B · A800 80GB · 200GB host · 1.5 GB/s SSD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F2937"/>
                </a:solidFill>
                <a:latin typeface="Calibri"/>
                <a:ea typeface="맑은 고딕"/>
              </a:rPr>
              <a:t>성능 격차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222222"/>
                </a:solidFill>
                <a:latin typeface="Calibri"/>
                <a:ea typeface="맑은 고딕"/>
              </a:rPr>
              <a:t>▸ 응답 latency가 </a:t>
            </a:r>
            <a:r>
              <a:rPr sz="1300" b="1" i="0">
                <a:solidFill>
                  <a:srgbClr val="444444"/>
                </a:solidFill>
                <a:latin typeface="Calibri"/>
                <a:ea typeface="맑은 고딕"/>
              </a:rPr>
              <a:t>최대 3.8× 증가</a:t>
            </a:r>
          </a:p>
          <a:p>
            <a:pPr algn="l">
              <a:spcAft>
                <a:spcPts val="1000"/>
              </a:spcAft>
            </a:pPr>
            <a:r>
              <a:rPr sz="1300" b="0" i="0">
                <a:solidFill>
                  <a:srgbClr val="222222"/>
                </a:solidFill>
                <a:latin typeface="Calibri"/>
                <a:ea typeface="맑은 고딕"/>
              </a:rPr>
              <a:t>▸ throughput은 </a:t>
            </a:r>
            <a:r>
              <a:rPr sz="1300" b="1" i="0">
                <a:solidFill>
                  <a:srgbClr val="444444"/>
                </a:solidFill>
                <a:latin typeface="Calibri"/>
                <a:ea typeface="맑은 고딕"/>
              </a:rPr>
              <a:t>최대 2.0× 감소</a:t>
            </a:r>
          </a:p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1F2937"/>
                </a:solidFill>
                <a:latin typeface="Calibri"/>
                <a:ea typeface="맑은 고딕"/>
              </a:rPr>
              <a:t>Ideal vs reality?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707680"/>
                </a:solidFill>
                <a:latin typeface="Calibri"/>
                <a:ea typeface="맑은 고딕"/>
              </a:rPr>
              <a:t>Ideal = 모든 KV가 perf layer에 있다고 가정한 동일 시스템.</a:t>
            </a:r>
          </a:p>
          <a:p>
            <a:pPr algn="l">
              <a:spcAft>
                <a:spcPts val="400"/>
              </a:spcAft>
            </a:pPr>
            <a:r>
              <a:rPr sz="1200" b="0" i="1">
                <a:solidFill>
                  <a:srgbClr val="1F2937"/>
                </a:solidFill>
                <a:latin typeface="Calibri"/>
                <a:ea typeface="맑은 고딕"/>
              </a:rPr>
              <a:t>이 격차의 원인을 분석하는 것이 본 논문의 출발점이다.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6537960"/>
            <a:ext cx="11277295" cy="0"/>
          </a:xfrm>
          <a:prstGeom prst="line">
            <a:avLst/>
          </a:prstGeom>
          <a:ln w="12700">
            <a:solidFill>
              <a:srgbClr val="D5D9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57200" y="656539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707680"/>
                </a:solidFill>
                <a:latin typeface="Calibri"/>
                <a:ea typeface="맑은 고딕"/>
              </a:rPr>
              <a:t>Bidaw — FAST '26 paper seminar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62895" y="6565392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707680"/>
                </a:solidFill>
                <a:latin typeface="Calibri"/>
                <a:ea typeface="맑은 고딕"/>
              </a:rPr>
              <a:t>7 / 30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7772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707680"/>
                </a:solidFill>
                <a:latin typeface="Calibri"/>
                <a:ea typeface="맑은 고딕"/>
              </a:rPr>
              <a:t>MOTIVATION</a:t>
            </a:r>
          </a:p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1F2937"/>
                </a:solidFill>
                <a:latin typeface="Calibri"/>
                <a:ea typeface="맑은 고딕"/>
              </a:rPr>
              <a:t>워크로드 — 백만 라운드 실서비스 인터랙티브 대화 trace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143000"/>
            <a:ext cx="11277295" cy="0"/>
          </a:xfrm>
          <a:prstGeom prst="line">
            <a:avLst/>
          </a:prstGeom>
          <a:ln w="9525">
            <a:solidFill>
              <a:srgbClr val="D5D9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figure_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7132320" cy="266935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3903797"/>
            <a:ext cx="713232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1">
                <a:solidFill>
                  <a:srgbClr val="707680"/>
                </a:solidFill>
                <a:latin typeface="Calibri"/>
                <a:ea typeface="맑은 고딕"/>
              </a:rPr>
              <a:t>Figure 4. (a) 사용자별 대화 지속시간, (b) 라운드 수 CDF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63840" y="1280160"/>
            <a:ext cx="4023360" cy="5029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1F2937"/>
                </a:solidFill>
                <a:latin typeface="Calibri"/>
                <a:ea typeface="맑은 고딕"/>
              </a:rPr>
              <a:t>Trace 출처</a:t>
            </a:r>
          </a:p>
          <a:p>
            <a:pPr algn="l">
              <a:spcAft>
                <a:spcPts val="1000"/>
              </a:spcAft>
            </a:pPr>
            <a:r>
              <a:rPr sz="1200" b="0" i="0">
                <a:solidFill>
                  <a:srgbClr val="707680"/>
                </a:solidFill>
                <a:latin typeface="Calibri"/>
                <a:ea typeface="맑은 고딕"/>
              </a:rPr>
              <a:t>China Telecom · 1M+ 라운드 · user timestamp 보존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F2937"/>
                </a:solidFill>
                <a:latin typeface="Calibri"/>
                <a:ea typeface="맑은 고딕"/>
              </a:rPr>
              <a:t>ShareGPT vs Mooncake와의 차이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444444"/>
                </a:solidFill>
                <a:latin typeface="Calibri"/>
                <a:ea typeface="맑은 고딕"/>
              </a:rPr>
              <a:t>▸ </a:t>
            </a:r>
            <a:r>
              <a:rPr sz="1200" b="0" i="0">
                <a:solidFill>
                  <a:srgbClr val="222222"/>
                </a:solidFill>
                <a:latin typeface="Calibri"/>
                <a:ea typeface="맑은 고딕"/>
              </a:rPr>
              <a:t>ShareGPT: 5.7 라운드 — interactive 분석엔 짧음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444444"/>
                </a:solidFill>
                <a:latin typeface="Calibri"/>
                <a:ea typeface="맑은 고딕"/>
              </a:rPr>
              <a:t>▸ </a:t>
            </a:r>
            <a:r>
              <a:rPr sz="1200" b="0" i="0">
                <a:solidFill>
                  <a:srgbClr val="222222"/>
                </a:solidFill>
                <a:latin typeface="Calibri"/>
                <a:ea typeface="맑은 고딕"/>
              </a:rPr>
              <a:t>Mooncake: 12k+ 토큰 — 길지만 대화 패턴 부재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444444"/>
                </a:solidFill>
                <a:latin typeface="Calibri"/>
                <a:ea typeface="맑은 고딕"/>
              </a:rPr>
              <a:t>▸ </a:t>
            </a:r>
            <a:r>
              <a:rPr sz="1200" b="0" i="0">
                <a:solidFill>
                  <a:srgbClr val="222222"/>
                </a:solidFill>
                <a:latin typeface="Calibri"/>
                <a:ea typeface="맑은 고딕"/>
              </a:rPr>
              <a:t>본 trace: 22.4 라운드 / 36 토큰 — interactive 부합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4937760"/>
            <a:ext cx="11247120" cy="1463040"/>
          </a:xfrm>
          <a:prstGeom prst="rect">
            <a:avLst/>
          </a:prstGeom>
          <a:solidFill>
            <a:srgbClr val="FFFFFF"/>
          </a:solidFill>
          <a:ln w="6350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029200"/>
            <a:ext cx="10972800" cy="12801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222222"/>
                </a:solidFill>
                <a:latin typeface="Calibri"/>
                <a:ea typeface="맑은 고딕"/>
              </a:rPr>
              <a:t>이어지는 세 슬라이드에서 </a:t>
            </a:r>
            <a:r>
              <a:rPr sz="1300" b="1" i="0">
                <a:solidFill>
                  <a:srgbClr val="444444"/>
                </a:solidFill>
                <a:latin typeface="Calibri"/>
                <a:ea typeface="맑은 고딕"/>
              </a:rPr>
              <a:t>Observation 1 / 2 / 3</a:t>
            </a:r>
            <a:r>
              <a:rPr sz="1300" b="0" i="0">
                <a:solidFill>
                  <a:srgbClr val="222222"/>
                </a:solidFill>
                <a:latin typeface="Calibri"/>
                <a:ea typeface="맑은 고딕"/>
              </a:rPr>
              <a:t>을 차례로 살펴본다.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6537960"/>
            <a:ext cx="11277295" cy="0"/>
          </a:xfrm>
          <a:prstGeom prst="line">
            <a:avLst/>
          </a:prstGeom>
          <a:ln w="12700">
            <a:solidFill>
              <a:srgbClr val="D5D9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6539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707680"/>
                </a:solidFill>
                <a:latin typeface="Calibri"/>
                <a:ea typeface="맑은 고딕"/>
              </a:rPr>
              <a:t>Bidaw — FAST '26 paper seminar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62895" y="6565392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707680"/>
                </a:solidFill>
                <a:latin typeface="Calibri"/>
                <a:ea typeface="맑은 고딕"/>
              </a:rPr>
              <a:t>8 / 30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7772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707680"/>
                </a:solidFill>
                <a:latin typeface="Calibri"/>
                <a:ea typeface="맑은 고딕"/>
              </a:rPr>
              <a:t>MOTIVATION</a:t>
            </a:r>
          </a:p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1F2937"/>
                </a:solidFill>
                <a:latin typeface="Calibri"/>
                <a:ea typeface="맑은 고딕"/>
              </a:rPr>
              <a:t>Observation 1 — 동시 캐시 KV 양이 perf layer를 크게 초과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143000"/>
            <a:ext cx="11277295" cy="0"/>
          </a:xfrm>
          <a:prstGeom prst="line">
            <a:avLst/>
          </a:prstGeom>
          <a:ln w="9525">
            <a:solidFill>
              <a:srgbClr val="D5D9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figure_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7315200" cy="388898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214861"/>
            <a:ext cx="73152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1">
                <a:solidFill>
                  <a:srgbClr val="707680"/>
                </a:solidFill>
                <a:latin typeface="Calibri"/>
                <a:ea typeface="맑은 고딕"/>
              </a:rPr>
              <a:t>Figure 5. 사용자 도착률 vs 동시 캐시 KV 총량 / 동시 사용자 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1280160"/>
            <a:ext cx="3931920" cy="5029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F2937"/>
                </a:solidFill>
                <a:latin typeface="Calibri"/>
                <a:ea typeface="맑은 고딕"/>
              </a:rPr>
              <a:t>관찰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444444"/>
                </a:solidFill>
                <a:latin typeface="Calibri"/>
                <a:ea typeface="맑은 고딕"/>
              </a:rPr>
              <a:t>▸ </a:t>
            </a:r>
            <a:r>
              <a:rPr sz="1300" b="0" i="0">
                <a:solidFill>
                  <a:srgbClr val="222222"/>
                </a:solidFill>
                <a:latin typeface="Calibri"/>
                <a:ea typeface="맑은 고딕"/>
              </a:rPr>
              <a:t>사용자 평균 22.4 라운드 동안 KV 가 생존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444444"/>
                </a:solidFill>
                <a:latin typeface="Calibri"/>
                <a:ea typeface="맑은 고딕"/>
              </a:rPr>
              <a:t>▸ </a:t>
            </a:r>
            <a:r>
              <a:rPr sz="1300" b="0" i="0">
                <a:solidFill>
                  <a:srgbClr val="222222"/>
                </a:solidFill>
                <a:latin typeface="Calibri"/>
                <a:ea typeface="맑은 고딕"/>
              </a:rPr>
              <a:t>도착률↑ → 동시 사용자 수 선형 증가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444444"/>
                </a:solidFill>
                <a:latin typeface="Calibri"/>
                <a:ea typeface="맑은 고딕"/>
              </a:rPr>
              <a:t>▸ </a:t>
            </a:r>
            <a:r>
              <a:rPr sz="1300" b="0" i="0">
                <a:solidFill>
                  <a:srgbClr val="222222"/>
                </a:solidFill>
                <a:latin typeface="Calibri"/>
                <a:ea typeface="맑은 고딕"/>
              </a:rPr>
              <a:t>OPT-13B · 30 users/min ≈ 480 GB (perf 200 GB)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F2937"/>
                </a:solidFill>
                <a:latin typeface="Calibri"/>
                <a:ea typeface="맑은 고딕"/>
              </a:rPr>
              <a:t>함의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444444"/>
                </a:solidFill>
                <a:latin typeface="Calibri"/>
                <a:ea typeface="맑은 고딕"/>
              </a:rPr>
              <a:t>▸ </a:t>
            </a:r>
            <a:r>
              <a:rPr sz="1300" b="0" i="0">
                <a:solidFill>
                  <a:srgbClr val="222222"/>
                </a:solidFill>
                <a:latin typeface="Calibri"/>
                <a:ea typeface="맑은 고딕"/>
              </a:rPr>
              <a:t>perf layer 가 커도 결국 한계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444444"/>
                </a:solidFill>
                <a:latin typeface="Calibri"/>
                <a:ea typeface="맑은 고딕"/>
              </a:rPr>
              <a:t>▸ </a:t>
            </a:r>
            <a:r>
              <a:rPr sz="1300" b="0" i="0">
                <a:solidFill>
                  <a:srgbClr val="222222"/>
                </a:solidFill>
                <a:latin typeface="Calibri"/>
                <a:ea typeface="맑은 고딕"/>
              </a:rPr>
              <a:t>eviction 부실 → capacity layer 로 빈번히 fallback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6537960"/>
            <a:ext cx="11277295" cy="0"/>
          </a:xfrm>
          <a:prstGeom prst="line">
            <a:avLst/>
          </a:prstGeom>
          <a:ln w="12700">
            <a:solidFill>
              <a:srgbClr val="D5D9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57200" y="656539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707680"/>
                </a:solidFill>
                <a:latin typeface="Calibri"/>
                <a:ea typeface="맑은 고딕"/>
              </a:rPr>
              <a:t>Bidaw — FAST '26 paper seminar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62895" y="6565392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707680"/>
                </a:solidFill>
                <a:latin typeface="Calibri"/>
                <a:ea typeface="맑은 고딕"/>
              </a:rPr>
              <a:t>9 / 30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7772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707680"/>
                </a:solidFill>
                <a:latin typeface="Calibri"/>
                <a:ea typeface="맑은 고딕"/>
              </a:rPr>
              <a:t>MOTIVATION</a:t>
            </a:r>
          </a:p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1F2937"/>
                </a:solidFill>
                <a:latin typeface="Calibri"/>
                <a:ea typeface="맑은 고딕"/>
              </a:rPr>
              <a:t>Observation 2 — KV access의 temporal locality가 매우 약함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143000"/>
            <a:ext cx="11277295" cy="0"/>
          </a:xfrm>
          <a:prstGeom prst="line">
            <a:avLst/>
          </a:prstGeom>
          <a:ln w="9525">
            <a:solidFill>
              <a:srgbClr val="D5D9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figure_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7315200" cy="261957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3945452"/>
            <a:ext cx="73152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1">
                <a:solidFill>
                  <a:srgbClr val="707680"/>
                </a:solidFill>
                <a:latin typeface="Calibri"/>
                <a:ea typeface="맑은 고딕"/>
              </a:rPr>
              <a:t>Figure 6. (a) Weighted reuse distance CDF, (b) hit rate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1280160"/>
            <a:ext cx="3931920" cy="5029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1F2937"/>
                </a:solidFill>
                <a:latin typeface="Calibri"/>
                <a:ea typeface="맑은 고딕"/>
              </a:rPr>
              <a:t>Weighted reuse distance</a:t>
            </a:r>
          </a:p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222222"/>
                </a:solidFill>
                <a:latin typeface="Calibri"/>
                <a:ea typeface="맑은 고딕"/>
              </a:rPr>
              <a:t>두 access 사이에 접근된 </a:t>
            </a:r>
            <a:r>
              <a:rPr sz="1200" b="1" i="0">
                <a:solidFill>
                  <a:srgbClr val="222222"/>
                </a:solidFill>
                <a:latin typeface="Calibri"/>
                <a:ea typeface="맑은 고딕"/>
              </a:rPr>
              <a:t>다른 KV의 총 크기 합</a:t>
            </a:r>
          </a:p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1F2937"/>
                </a:solidFill>
                <a:latin typeface="Calibri"/>
                <a:ea typeface="맑은 고딕"/>
              </a:rPr>
              <a:t>수치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444444"/>
                </a:solidFill>
                <a:latin typeface="Calibri"/>
                <a:ea typeface="맑은 고딕"/>
              </a:rPr>
              <a:t>▸ </a:t>
            </a:r>
            <a:r>
              <a:rPr sz="1200" b="0" i="0">
                <a:solidFill>
                  <a:srgbClr val="222222"/>
                </a:solidFill>
                <a:latin typeface="Calibri"/>
                <a:ea typeface="맑은 고딕"/>
              </a:rPr>
              <a:t>80%의 KV access 가 </a:t>
            </a:r>
            <a:r>
              <a:rPr sz="1200" b="1" i="0">
                <a:solidFill>
                  <a:srgbClr val="222222"/>
                </a:solidFill>
                <a:latin typeface="Calibri"/>
                <a:ea typeface="맑은 고딕"/>
              </a:rPr>
              <a:t>perf layer (200GB)를 초과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444444"/>
                </a:solidFill>
                <a:latin typeface="Calibri"/>
                <a:ea typeface="맑은 고딕"/>
              </a:rPr>
              <a:t>▸ </a:t>
            </a:r>
            <a:r>
              <a:rPr sz="1200" b="0" i="0">
                <a:solidFill>
                  <a:srgbClr val="222222"/>
                </a:solidFill>
                <a:latin typeface="Calibri"/>
                <a:ea typeface="맑은 고딕"/>
              </a:rPr>
              <a:t>FIFO/LRU/queue-enhanced 모두 </a:t>
            </a:r>
            <a:r>
              <a:rPr sz="1200" b="1" i="0">
                <a:solidFill>
                  <a:srgbClr val="222222"/>
                </a:solidFill>
                <a:latin typeface="Calibri"/>
                <a:ea typeface="맑은 고딕"/>
              </a:rPr>
              <a:t>hit rate ≈ 20% 수준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444444"/>
                </a:solidFill>
                <a:latin typeface="Calibri"/>
                <a:ea typeface="맑은 고딕"/>
              </a:rPr>
              <a:t>▸ </a:t>
            </a:r>
            <a:r>
              <a:rPr sz="1200" b="0" i="0">
                <a:solidFill>
                  <a:srgbClr val="222222"/>
                </a:solidFill>
                <a:latin typeface="Calibri"/>
                <a:ea typeface="맑은 고딕"/>
              </a:rPr>
              <a:t>perf layer가 </a:t>
            </a:r>
            <a:r>
              <a:rPr sz="1200" b="1" i="0">
                <a:solidFill>
                  <a:srgbClr val="222222"/>
                </a:solidFill>
                <a:latin typeface="Calibri"/>
                <a:ea typeface="맑은 고딕"/>
              </a:rPr>
              <a:t>전체 KV의 40.1%를 담을 수 있음에도 hit는 절반 수준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222222"/>
                </a:solidFill>
                <a:latin typeface="Calibri"/>
                <a:ea typeface="맑은 고딕"/>
              </a:rPr>
              <a:t>→ 사용자가 답을 읽는 사이 </a:t>
            </a:r>
            <a:r>
              <a:rPr sz="1200" b="0" i="1">
                <a:solidFill>
                  <a:srgbClr val="707680"/>
                </a:solidFill>
                <a:latin typeface="Calibri"/>
                <a:ea typeface="맑은 고딕"/>
              </a:rPr>
              <a:t>다른 user KV 가 끼어들기 때문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6537960"/>
            <a:ext cx="11277295" cy="0"/>
          </a:xfrm>
          <a:prstGeom prst="line">
            <a:avLst/>
          </a:prstGeom>
          <a:ln w="12700">
            <a:solidFill>
              <a:srgbClr val="D5D9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57200" y="656539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707680"/>
                </a:solidFill>
                <a:latin typeface="Calibri"/>
                <a:ea typeface="맑은 고딕"/>
              </a:rPr>
              <a:t>Bidaw — FAST '26 paper seminar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62895" y="6565392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707680"/>
                </a:solidFill>
                <a:latin typeface="Calibri"/>
                <a:ea typeface="맑은 고딕"/>
              </a:rPr>
              <a:t>10 / 30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7772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707680"/>
                </a:solidFill>
                <a:latin typeface="Calibri"/>
                <a:ea typeface="맑은 고딕"/>
              </a:rPr>
              <a:t>MOTIVATION</a:t>
            </a:r>
          </a:p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1F2937"/>
                </a:solidFill>
                <a:latin typeface="Calibri"/>
                <a:ea typeface="맑은 고딕"/>
              </a:rPr>
              <a:t>Observation 3 — KV loading 시간 분산이 매우 큼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143000"/>
            <a:ext cx="11277295" cy="0"/>
          </a:xfrm>
          <a:prstGeom prst="line">
            <a:avLst/>
          </a:prstGeom>
          <a:ln w="9525">
            <a:solidFill>
              <a:srgbClr val="D5D9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figure_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102" y="1280160"/>
            <a:ext cx="5660916" cy="23774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3703320"/>
            <a:ext cx="576072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1">
                <a:solidFill>
                  <a:srgbClr val="707680"/>
                </a:solidFill>
                <a:latin typeface="Calibri"/>
                <a:ea typeface="맑은 고딕"/>
              </a:rPr>
              <a:t>Figure 7. 시간 구간별 KV loading time의 변동계수 CV</a:t>
            </a:r>
          </a:p>
        </p:txBody>
      </p:sp>
      <p:pic>
        <p:nvPicPr>
          <p:cNvPr id="6" name="Picture 5" descr="figure_0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837" y="3931920"/>
            <a:ext cx="5467446" cy="2377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6355080"/>
            <a:ext cx="576072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1">
                <a:solidFill>
                  <a:srgbClr val="707680"/>
                </a:solidFill>
                <a:latin typeface="Calibri"/>
                <a:ea typeface="맑은 고딕"/>
              </a:rPr>
              <a:t>Figure 8. Loaded KV 크기 분포 (히스토그램)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280160"/>
            <a:ext cx="5486400" cy="5120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1F2937"/>
                </a:solidFill>
                <a:latin typeface="Calibri"/>
                <a:ea typeface="맑은 고딕"/>
              </a:rPr>
              <a:t>왜 분산이 큰가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444444"/>
                </a:solidFill>
                <a:latin typeface="Calibri"/>
                <a:ea typeface="맑은 고딕"/>
              </a:rPr>
              <a:t>▸ </a:t>
            </a:r>
            <a:r>
              <a:rPr sz="1300" b="0" i="0">
                <a:solidFill>
                  <a:srgbClr val="222222"/>
                </a:solidFill>
                <a:latin typeface="Calibri"/>
                <a:ea typeface="맑은 고딕"/>
              </a:rPr>
              <a:t>두 layer 의 </a:t>
            </a:r>
            <a:r>
              <a:rPr sz="1300" b="1" i="0">
                <a:solidFill>
                  <a:srgbClr val="222222"/>
                </a:solidFill>
                <a:latin typeface="Calibri"/>
                <a:ea typeface="맑은 고딕"/>
              </a:rPr>
              <a:t>bandwidth 격차 (host DRAM ↔ SSD)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444444"/>
                </a:solidFill>
                <a:latin typeface="Calibri"/>
                <a:ea typeface="맑은 고딕"/>
              </a:rPr>
              <a:t>▸ </a:t>
            </a:r>
            <a:r>
              <a:rPr sz="1300" b="0" i="0">
                <a:solidFill>
                  <a:srgbClr val="222222"/>
                </a:solidFill>
                <a:latin typeface="Calibri"/>
                <a:ea typeface="맑은 고딕"/>
              </a:rPr>
              <a:t>요청별 </a:t>
            </a:r>
            <a:r>
              <a:rPr sz="1300" b="1" i="0">
                <a:solidFill>
                  <a:srgbClr val="222222"/>
                </a:solidFill>
                <a:latin typeface="Calibri"/>
                <a:ea typeface="맑은 고딕"/>
              </a:rPr>
              <a:t>KV size 자체가 매우 다름 (수십 MB ~ 수백 MB)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444444"/>
                </a:solidFill>
                <a:latin typeface="Calibri"/>
                <a:ea typeface="맑은 고딕"/>
              </a:rPr>
              <a:t>▸ </a:t>
            </a:r>
            <a:r>
              <a:rPr sz="1300" b="0" i="0">
                <a:solidFill>
                  <a:srgbClr val="222222"/>
                </a:solidFill>
                <a:latin typeface="Calibri"/>
                <a:ea typeface="맑은 고딕"/>
              </a:rPr>
              <a:t>심지어 </a:t>
            </a:r>
            <a:r>
              <a:rPr sz="1300" b="1" i="0">
                <a:solidFill>
                  <a:srgbClr val="222222"/>
                </a:solidFill>
                <a:latin typeface="Calibri"/>
                <a:ea typeface="맑은 고딕"/>
              </a:rPr>
              <a:t>5초 윈도우 내에서도 CV &gt; 90% — globally 균일화되지 않음</a:t>
            </a:r>
          </a:p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1F2937"/>
                </a:solidFill>
                <a:latin typeface="Calibri"/>
                <a:ea typeface="맑은 고딕"/>
              </a:rPr>
              <a:t>함의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222222"/>
                </a:solidFill>
                <a:latin typeface="Calibri"/>
                <a:ea typeface="맑은 고딕"/>
              </a:rPr>
              <a:t>큰 KV 한 개가 </a:t>
            </a:r>
            <a:r>
              <a:rPr sz="1300" b="1" i="0">
                <a:solidFill>
                  <a:srgbClr val="444444"/>
                </a:solidFill>
                <a:latin typeface="Calibri"/>
                <a:ea typeface="맑은 고딕"/>
              </a:rPr>
              <a:t>뒤따르는 작은 KV 까지 GPU idle 로 만든다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6537960"/>
            <a:ext cx="11277295" cy="0"/>
          </a:xfrm>
          <a:prstGeom prst="line">
            <a:avLst/>
          </a:prstGeom>
          <a:ln w="12700">
            <a:solidFill>
              <a:srgbClr val="D5D9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6539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707680"/>
                </a:solidFill>
                <a:latin typeface="Calibri"/>
                <a:ea typeface="맑은 고딕"/>
              </a:rPr>
              <a:t>Bidaw — FAST '26 paper seminar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62895" y="6565392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707680"/>
                </a:solidFill>
                <a:latin typeface="Calibri"/>
                <a:ea typeface="맑은 고딕"/>
              </a:rPr>
              <a:t>11 / 30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7772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707680"/>
                </a:solidFill>
                <a:latin typeface="Calibri"/>
                <a:ea typeface="맑은 고딕"/>
              </a:rPr>
              <a:t>ROOT CAUSE</a:t>
            </a:r>
          </a:p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1F2937"/>
                </a:solidFill>
                <a:latin typeface="Calibri"/>
                <a:ea typeface="맑은 고딕"/>
              </a:rPr>
              <a:t>Root cause — compute engine과 storage가 서로 unaware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143000"/>
            <a:ext cx="11277295" cy="0"/>
          </a:xfrm>
          <a:prstGeom prst="line">
            <a:avLst/>
          </a:prstGeom>
          <a:ln w="9525">
            <a:solidFill>
              <a:srgbClr val="D5D9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457200" y="1280160"/>
            <a:ext cx="5486400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5120640" cy="23774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F2937"/>
                </a:solidFill>
                <a:latin typeface="Calibri"/>
                <a:ea typeface="맑은 고딕"/>
              </a:rPr>
              <a:t>문제 1. Compute engine은 storage I/O latency를 모른다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222222"/>
                </a:solidFill>
                <a:latin typeface="Calibri"/>
                <a:ea typeface="맑은 고딕"/>
              </a:rPr>
              <a:t>▸ 어떤 요청의 KV가 perf layer에 있는지, capacity layer에 있는지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222222"/>
                </a:solidFill>
                <a:latin typeface="Calibri"/>
                <a:ea typeface="맑은 고딕"/>
              </a:rPr>
              <a:t>▸ 어떤 요청의 KV size가 큰지 vs 작은지</a:t>
            </a:r>
          </a:p>
          <a:p>
            <a:pPr algn="l">
              <a:spcAft>
                <a:spcPts val="400"/>
              </a:spcAft>
            </a:pPr>
            <a:r>
              <a:rPr sz="1300" b="0" i="1">
                <a:solidFill>
                  <a:srgbClr val="444444"/>
                </a:solidFill>
                <a:latin typeface="Calibri"/>
                <a:ea typeface="맑은 고딕"/>
              </a:rPr>
              <a:t>→ 그냥 FCFS로 dispatch → 큰 I/O가 큐 머리에 박히면 GPU idle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0" y="1280160"/>
            <a:ext cx="5486400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371600"/>
            <a:ext cx="5120640" cy="23774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F2937"/>
                </a:solidFill>
                <a:latin typeface="Calibri"/>
                <a:ea typeface="맑은 고딕"/>
              </a:rPr>
              <a:t>문제 2. Storage는 사용자 대화 패턴을 모른다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222222"/>
                </a:solidFill>
                <a:latin typeface="Calibri"/>
                <a:ea typeface="맑은 고딕"/>
              </a:rPr>
              <a:t>▸ Eviction은 자기 측의 KV access history만 사용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222222"/>
                </a:solidFill>
                <a:latin typeface="Calibri"/>
                <a:ea typeface="맑은 고딕"/>
              </a:rPr>
              <a:t>▸ 사용자의 다음 질문 timing은 compute가 만든 답변 길이에 좌우</a:t>
            </a:r>
          </a:p>
          <a:p>
            <a:pPr algn="l">
              <a:spcAft>
                <a:spcPts val="400"/>
              </a:spcAft>
            </a:pPr>
            <a:r>
              <a:rPr sz="1300" b="0" i="1">
                <a:solidFill>
                  <a:srgbClr val="444444"/>
                </a:solidFill>
                <a:latin typeface="Calibri"/>
                <a:ea typeface="맑은 고딕"/>
              </a:rPr>
              <a:t>→ 정보 부재로 인해 hit rate ≈ 20% 수준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4114800"/>
            <a:ext cx="11247120" cy="2194560"/>
          </a:xfrm>
          <a:prstGeom prst="rect">
            <a:avLst/>
          </a:prstGeom>
          <a:solidFill>
            <a:srgbClr val="FFFFFF"/>
          </a:solidFill>
          <a:ln w="9525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4206240"/>
            <a:ext cx="10972800" cy="20116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  <a:ea typeface="맑은 고딕"/>
              </a:rPr>
              <a:t>문제는 둘 다 </a:t>
            </a: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정보가 한쪽 방향으로만 흐르거나, 아예 흐르지 않는다는 것</a:t>
            </a:r>
          </a:p>
          <a:p>
            <a:pPr algn="ctr">
              <a:spcAft>
                <a:spcPts val="400"/>
              </a:spcAft>
            </a:pPr>
            <a:r>
              <a:rPr sz="1500" b="0" i="0">
                <a:solidFill>
                  <a:srgbClr val="707680"/>
                </a:solidFill>
                <a:latin typeface="Calibri"/>
                <a:ea typeface="맑은 고딕"/>
              </a:rPr>
              <a:t>Bidaw의 가설: </a:t>
            </a:r>
            <a:r>
              <a:rPr sz="1500" b="1" i="0">
                <a:solidFill>
                  <a:srgbClr val="1F2937"/>
                </a:solidFill>
                <a:latin typeface="Calibri"/>
                <a:ea typeface="맑은 고딕"/>
              </a:rPr>
              <a:t>두 방향 모두 정보를 흐르게 하면 두 문제 모두 해결된다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57200" y="6537960"/>
            <a:ext cx="11277295" cy="0"/>
          </a:xfrm>
          <a:prstGeom prst="line">
            <a:avLst/>
          </a:prstGeom>
          <a:ln w="12700">
            <a:solidFill>
              <a:srgbClr val="D5D9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57200" y="656539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707680"/>
                </a:solidFill>
                <a:latin typeface="Calibri"/>
                <a:ea typeface="맑은 고딕"/>
              </a:rPr>
              <a:t>Bidaw — FAST '26 paper seminar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62895" y="6565392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707680"/>
                </a:solidFill>
                <a:latin typeface="Calibri"/>
                <a:ea typeface="맑은 고딕"/>
              </a:rPr>
              <a:t>12 / 30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7772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707680"/>
                </a:solidFill>
                <a:latin typeface="Calibri"/>
                <a:ea typeface="맑은 고딕"/>
              </a:rPr>
              <a:t>KEY IDEA</a:t>
            </a:r>
          </a:p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1F2937"/>
                </a:solidFill>
                <a:latin typeface="Calibri"/>
                <a:ea typeface="맑은 고딕"/>
              </a:rPr>
              <a:t>핵심 아이디어 — Bidirectional awareness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143000"/>
            <a:ext cx="11277295" cy="0"/>
          </a:xfrm>
          <a:prstGeom prst="line">
            <a:avLst/>
          </a:prstGeom>
          <a:ln w="9525">
            <a:solidFill>
              <a:srgbClr val="D5D9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457200" y="1280160"/>
            <a:ext cx="5486400" cy="4937760"/>
          </a:xfrm>
          <a:prstGeom prst="rect">
            <a:avLst/>
          </a:prstGeom>
          <a:solidFill>
            <a:srgbClr val="FFFFFF"/>
          </a:solidFill>
          <a:ln w="6350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5120640" cy="47548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1F2937"/>
                </a:solidFill>
                <a:latin typeface="Calibri"/>
                <a:ea typeface="맑은 고딕"/>
              </a:rPr>
              <a:t>Compute → Storage</a:t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222222"/>
                </a:solidFill>
                <a:latin typeface="Calibri"/>
                <a:ea typeface="맑은 고딕"/>
              </a:rPr>
              <a:t>이전 라운드의 </a:t>
            </a:r>
            <a:r>
              <a:rPr sz="1300" b="1" i="0">
                <a:solidFill>
                  <a:srgbClr val="444444"/>
                </a:solidFill>
                <a:latin typeface="Calibri"/>
                <a:ea typeface="맑은 고딕"/>
              </a:rPr>
              <a:t>model answer 길이</a:t>
            </a:r>
            <a:r>
              <a:rPr sz="1300" b="0" i="0">
                <a:solidFill>
                  <a:srgbClr val="222222"/>
                </a:solidFill>
                <a:latin typeface="Calibri"/>
                <a:ea typeface="맑은 고딕"/>
              </a:rPr>
              <a:t>를 storage 에 넘긴다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444444"/>
                </a:solidFill>
                <a:latin typeface="Calibri"/>
                <a:ea typeface="맑은 고딕"/>
              </a:rPr>
              <a:t>▸ </a:t>
            </a:r>
            <a:r>
              <a:rPr sz="1300" b="0" i="0">
                <a:solidFill>
                  <a:srgbClr val="222222"/>
                </a:solidFill>
                <a:latin typeface="Calibri"/>
                <a:ea typeface="맑은 고딕"/>
              </a:rPr>
              <a:t>이 길이가 다음 질문 도착 시점의 예측 신호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444444"/>
                </a:solidFill>
                <a:latin typeface="Calibri"/>
                <a:ea typeface="맑은 고딕"/>
              </a:rPr>
              <a:t>▸ </a:t>
            </a:r>
            <a:r>
              <a:rPr sz="1300" b="0" i="0">
                <a:solidFill>
                  <a:srgbClr val="222222"/>
                </a:solidFill>
                <a:latin typeface="Calibri"/>
                <a:ea typeface="맑은 고딕"/>
              </a:rPr>
              <a:t>Storage 는 신호로 next-access reuse distance 추정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444444"/>
                </a:solidFill>
                <a:latin typeface="Calibri"/>
                <a:ea typeface="맑은 고딕"/>
              </a:rPr>
              <a:t>▸ </a:t>
            </a:r>
            <a:r>
              <a:rPr sz="1300" b="0" i="0">
                <a:solidFill>
                  <a:srgbClr val="222222"/>
                </a:solidFill>
                <a:latin typeface="Calibri"/>
                <a:ea typeface="맑은 고딕"/>
              </a:rPr>
              <a:t>hit potential 최저 KV 를 evict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0" y="1280160"/>
            <a:ext cx="5486400" cy="4937760"/>
          </a:xfrm>
          <a:prstGeom prst="rect">
            <a:avLst/>
          </a:prstGeom>
          <a:solidFill>
            <a:srgbClr val="FFFFFF"/>
          </a:solidFill>
          <a:ln w="6350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371600"/>
            <a:ext cx="5120640" cy="47548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1F2937"/>
                </a:solidFill>
                <a:latin typeface="Calibri"/>
                <a:ea typeface="맑은 고딕"/>
              </a:rPr>
              <a:t>Storage → Compute</a:t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222222"/>
                </a:solidFill>
                <a:latin typeface="Calibri"/>
                <a:ea typeface="맑은 고딕"/>
              </a:rPr>
              <a:t>각 요청 KV 의 </a:t>
            </a:r>
            <a:r>
              <a:rPr sz="1300" b="1" i="0">
                <a:solidFill>
                  <a:srgbClr val="444444"/>
                </a:solidFill>
                <a:latin typeface="Calibri"/>
                <a:ea typeface="맑은 고딕"/>
              </a:rPr>
              <a:t>위치 (layer) 와 크기</a:t>
            </a:r>
            <a:r>
              <a:rPr sz="1300" b="0" i="0">
                <a:solidFill>
                  <a:srgbClr val="222222"/>
                </a:solidFill>
                <a:latin typeface="Calibri"/>
                <a:ea typeface="맑은 고딕"/>
              </a:rPr>
              <a:t>를 compute 에 넘긴다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444444"/>
                </a:solidFill>
                <a:latin typeface="Calibri"/>
                <a:ea typeface="맑은 고딕"/>
              </a:rPr>
              <a:t>▸ </a:t>
            </a:r>
            <a:r>
              <a:rPr sz="1300" b="0" i="0">
                <a:solidFill>
                  <a:srgbClr val="222222"/>
                </a:solidFill>
                <a:latin typeface="Calibri"/>
                <a:ea typeface="맑은 고딕"/>
              </a:rPr>
              <a:t>Compute 는 KV 위치/크기 알고 dispatch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444444"/>
                </a:solidFill>
                <a:latin typeface="Calibri"/>
                <a:ea typeface="맑은 고딕"/>
              </a:rPr>
              <a:t>▸ </a:t>
            </a:r>
            <a:r>
              <a:rPr sz="1300" b="0" i="0">
                <a:solidFill>
                  <a:srgbClr val="222222"/>
                </a:solidFill>
                <a:latin typeface="Calibri"/>
                <a:ea typeface="맑은 고딕"/>
              </a:rPr>
              <a:t>ready / preparing 두 큐로 I/O 길이를 분리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444444"/>
                </a:solidFill>
                <a:latin typeface="Calibri"/>
                <a:ea typeface="맑은 고딕"/>
              </a:rPr>
              <a:t>▸ </a:t>
            </a:r>
            <a:r>
              <a:rPr sz="1300" b="0" i="0">
                <a:solidFill>
                  <a:srgbClr val="222222"/>
                </a:solidFill>
                <a:latin typeface="Calibri"/>
                <a:ea typeface="맑은 고딕"/>
              </a:rPr>
              <a:t>GPU idle 제거 + 큐잉 지연 감소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6537960"/>
            <a:ext cx="11277295" cy="0"/>
          </a:xfrm>
          <a:prstGeom prst="line">
            <a:avLst/>
          </a:prstGeom>
          <a:ln w="12700">
            <a:solidFill>
              <a:srgbClr val="D5D9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57200" y="656539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707680"/>
                </a:solidFill>
                <a:latin typeface="Calibri"/>
                <a:ea typeface="맑은 고딕"/>
              </a:rPr>
              <a:t>Bidaw — FAST '26 paper seminar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62895" y="6565392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707680"/>
                </a:solidFill>
                <a:latin typeface="Calibri"/>
                <a:ea typeface="맑은 고딕"/>
              </a:rPr>
              <a:t>13 / 30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7772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707680"/>
                </a:solidFill>
                <a:latin typeface="Calibri"/>
                <a:ea typeface="맑은 고딕"/>
              </a:rPr>
              <a:t>DESIGN</a:t>
            </a:r>
          </a:p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1F2937"/>
                </a:solidFill>
                <a:latin typeface="Calibri"/>
                <a:ea typeface="맑은 고딕"/>
              </a:rPr>
              <a:t>시스템 개관 — 3개 컴포넌트 + 양방향 신호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143000"/>
            <a:ext cx="11277295" cy="0"/>
          </a:xfrm>
          <a:prstGeom prst="line">
            <a:avLst/>
          </a:prstGeom>
          <a:ln w="9525">
            <a:solidFill>
              <a:srgbClr val="D5D9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figure_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5760720" cy="46566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891139"/>
            <a:ext cx="576072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1">
                <a:solidFill>
                  <a:srgbClr val="707680"/>
                </a:solidFill>
                <a:latin typeface="Calibri"/>
                <a:ea typeface="맑은 고딕"/>
              </a:rPr>
              <a:t>Figure 9. Bidaw 시스템 구조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92240" y="1188720"/>
            <a:ext cx="5486400" cy="5120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 i="0">
                <a:solidFill>
                  <a:srgbClr val="1F2937"/>
                </a:solidFill>
                <a:latin typeface="Calibri"/>
                <a:ea typeface="맑은 고딕"/>
              </a:rPr>
              <a:t>①  Scheduler  (§3.2)</a:t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707680"/>
                </a:solidFill>
                <a:latin typeface="Calibri"/>
                <a:ea typeface="맑은 고딕"/>
              </a:rPr>
              <a:t>Storage로부터 KV 위치와 크기를 받아 ready/preparing 큐로 분리</a:t>
            </a:r>
          </a:p>
          <a:p>
            <a:pPr algn="l">
              <a:spcAft>
                <a:spcPts val="200"/>
              </a:spcAft>
            </a:pPr>
            <a:r>
              <a:rPr sz="1600" b="1" i="0">
                <a:solidFill>
                  <a:srgbClr val="1F2937"/>
                </a:solidFill>
                <a:latin typeface="Calibri"/>
                <a:ea typeface="맑은 고딕"/>
              </a:rPr>
              <a:t>②  History Cacher  (§4)</a:t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707680"/>
                </a:solidFill>
                <a:latin typeface="Calibri"/>
                <a:ea typeface="맑은 고딕"/>
              </a:rPr>
              <a:t>GPU에서 생성된 history tensor 중 storage-efficient tensor만 캐시</a:t>
            </a:r>
          </a:p>
          <a:p>
            <a:pPr algn="l">
              <a:spcAft>
                <a:spcPts val="200"/>
              </a:spcAft>
            </a:pPr>
            <a:r>
              <a:rPr sz="1600" b="1" i="0">
                <a:solidFill>
                  <a:srgbClr val="1F2937"/>
                </a:solidFill>
                <a:latin typeface="Calibri"/>
                <a:ea typeface="맑은 고딕"/>
              </a:rPr>
              <a:t>③  Eviction Manager  (§3.3)</a:t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707680"/>
                </a:solidFill>
                <a:latin typeface="Calibri"/>
                <a:ea typeface="맑은 고딕"/>
              </a:rPr>
              <a:t>Compute가 넘긴 답변 길이로 reuse distance 추정 → hit potential 최저 KV 축출</a:t>
            </a:r>
          </a:p>
          <a:p>
            <a:pPr algn="l">
              <a:spcAft>
                <a:spcPts val="200"/>
              </a:spcAft>
            </a:pPr>
            <a:r>
              <a:rPr sz="1600" b="1" i="0">
                <a:solidFill>
                  <a:srgbClr val="444444"/>
                </a:solidFill>
                <a:latin typeface="Calibri"/>
                <a:ea typeface="맑은 고딕"/>
              </a:rPr>
              <a:t>Bidirectional 신호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222222"/>
                </a:solidFill>
                <a:latin typeface="Calibri"/>
                <a:ea typeface="맑은 고딕"/>
              </a:rPr>
              <a:t>▸ Storage → Compute: KV location &amp; size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222222"/>
                </a:solidFill>
                <a:latin typeface="Calibri"/>
                <a:ea typeface="맑은 고딕"/>
              </a:rPr>
              <a:t>▸ Compute → Storage: future access timing (=answer length)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6537960"/>
            <a:ext cx="11277295" cy="0"/>
          </a:xfrm>
          <a:prstGeom prst="line">
            <a:avLst/>
          </a:prstGeom>
          <a:ln w="12700">
            <a:solidFill>
              <a:srgbClr val="D5D9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57200" y="656539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707680"/>
                </a:solidFill>
                <a:latin typeface="Calibri"/>
                <a:ea typeface="맑은 고딕"/>
              </a:rPr>
              <a:t>Bidaw — FAST '26 paper seminar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62895" y="6565392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707680"/>
                </a:solidFill>
                <a:latin typeface="Calibri"/>
                <a:ea typeface="맑은 고딕"/>
              </a:rPr>
              <a:t>14 / 30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7772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707680"/>
                </a:solidFill>
                <a:latin typeface="Calibri"/>
                <a:ea typeface="맑은 고딕"/>
              </a:rPr>
              <a:t>DESIGN</a:t>
            </a:r>
          </a:p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1F2937"/>
                </a:solidFill>
                <a:latin typeface="Calibri"/>
                <a:ea typeface="맑은 고딕"/>
              </a:rPr>
              <a:t>End-to-end workflow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143000"/>
            <a:ext cx="11277295" cy="0"/>
          </a:xfrm>
          <a:prstGeom prst="line">
            <a:avLst/>
          </a:prstGeom>
          <a:ln w="9525">
            <a:solidFill>
              <a:srgbClr val="D5D9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457200" y="1280160"/>
            <a:ext cx="73152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200" b="1" i="0">
                <a:solidFill>
                  <a:srgbClr val="707680"/>
                </a:solidFill>
                <a:latin typeface="Calibri"/>
                <a:ea typeface="맑은 고딕"/>
              </a:rPr>
              <a:t>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325880"/>
            <a:ext cx="10515600" cy="10058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1F2937"/>
                </a:solidFill>
                <a:latin typeface="Calibri"/>
                <a:ea typeface="맑은 고딕"/>
              </a:rPr>
              <a:t>사용자 요청 도착 → Scheduler가 KV의 location/size를 storage에서 조회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707680"/>
                </a:solidFill>
                <a:latin typeface="Calibri"/>
                <a:ea typeface="맑은 고딕"/>
              </a:rPr>
              <a:t>→ Ready queue 또는 Preparing queue 로 dispatch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468880"/>
            <a:ext cx="73152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200" b="1" i="0">
                <a:solidFill>
                  <a:srgbClr val="707680"/>
                </a:solidFill>
                <a:latin typeface="Calibri"/>
                <a:ea typeface="맑은 고딕"/>
              </a:rPr>
              <a:t>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2514600"/>
            <a:ext cx="10515600" cy="10058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1F2937"/>
                </a:solidFill>
                <a:latin typeface="Calibri"/>
                <a:ea typeface="맑은 고딕"/>
              </a:rPr>
              <a:t>GPU가 inference 진행 중 생성한 storage-efficient tensor를 History Cacher가 캐싱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707680"/>
                </a:solidFill>
                <a:latin typeface="Calibri"/>
                <a:ea typeface="맑은 고딕"/>
              </a:rPr>
              <a:t>→ KV tensor 대신 더 작은 intermediate tensor를 저장 (MHA-only)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657600"/>
            <a:ext cx="73152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200" b="1" i="0">
                <a:solidFill>
                  <a:srgbClr val="707680"/>
                </a:solidFill>
                <a:latin typeface="Calibri"/>
                <a:ea typeface="맑은 고딕"/>
              </a:rPr>
              <a:t>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3703320"/>
            <a:ext cx="10515600" cy="10058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1F2937"/>
                </a:solidFill>
                <a:latin typeface="Calibri"/>
                <a:ea typeface="맑은 고딕"/>
              </a:rPr>
              <a:t>GPU 응답 완료 → 답변 토큰 길이를 Eviction Manager에게 전달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707680"/>
                </a:solidFill>
                <a:latin typeface="Calibri"/>
                <a:ea typeface="맑은 고딕"/>
              </a:rPr>
              <a:t>→ 다음 KV access의 reuse distance 분포 추정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846320"/>
            <a:ext cx="73152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200" b="1" i="0">
                <a:solidFill>
                  <a:srgbClr val="707680"/>
                </a:solidFill>
                <a:latin typeface="Calibri"/>
                <a:ea typeface="맑은 고딕"/>
              </a:rPr>
              <a:t>④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4892040"/>
            <a:ext cx="10515600" cy="10058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1F2937"/>
                </a:solidFill>
                <a:latin typeface="Calibri"/>
                <a:ea typeface="맑은 고딕"/>
              </a:rPr>
              <a:t>Free perf-layer 공간이 임계 미만이 되면 eviction 트리거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707680"/>
                </a:solidFill>
                <a:latin typeface="Calibri"/>
                <a:ea typeface="맑은 고딕"/>
              </a:rPr>
              <a:t>→ Hit potential 최저 KV를 capacity layer로 이동 (inclusive caching)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57200" y="6537960"/>
            <a:ext cx="11277295" cy="0"/>
          </a:xfrm>
          <a:prstGeom prst="line">
            <a:avLst/>
          </a:prstGeom>
          <a:ln w="12700">
            <a:solidFill>
              <a:srgbClr val="D5D9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457200" y="656539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707680"/>
                </a:solidFill>
                <a:latin typeface="Calibri"/>
                <a:ea typeface="맑은 고딕"/>
              </a:rPr>
              <a:t>Bidaw — FAST '26 paper seminar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62895" y="6565392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707680"/>
                </a:solidFill>
                <a:latin typeface="Calibri"/>
                <a:ea typeface="맑은 고딕"/>
              </a:rPr>
              <a:t>15 / 30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7772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707680"/>
                </a:solidFill>
                <a:latin typeface="Calibri"/>
                <a:ea typeface="맑은 고딕"/>
              </a:rPr>
              <a:t>MECHANISM 1 / 3</a:t>
            </a:r>
          </a:p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1F2937"/>
                </a:solidFill>
                <a:latin typeface="Calibri"/>
                <a:ea typeface="맑은 고딕"/>
              </a:rPr>
              <a:t>Mechanism 1 동기 — I/O blocking과 overlap의 한계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143000"/>
            <a:ext cx="11277295" cy="0"/>
          </a:xfrm>
          <a:prstGeom prst="line">
            <a:avLst/>
          </a:prstGeom>
          <a:ln w="9525">
            <a:solidFill>
              <a:srgbClr val="D5D9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figure_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6675120" cy="224690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3481347"/>
            <a:ext cx="667512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1">
                <a:solidFill>
                  <a:srgbClr val="707680"/>
                </a:solidFill>
                <a:latin typeface="Calibri"/>
                <a:ea typeface="맑은 고딕"/>
              </a:rPr>
              <a:t>Figure 10. I/O-aware request scheduling 전략 개관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06640" y="1188720"/>
            <a:ext cx="4572000" cy="5120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F2937"/>
                </a:solidFill>
                <a:latin typeface="Calibri"/>
                <a:ea typeface="맑은 고딕"/>
              </a:rPr>
              <a:t>왜 단순 overlap이 안 되는가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444444"/>
                </a:solidFill>
                <a:latin typeface="Calibri"/>
                <a:ea typeface="맑은 고딕"/>
              </a:rPr>
              <a:t>▸ </a:t>
            </a:r>
            <a:r>
              <a:rPr sz="1300" b="0" i="0">
                <a:solidFill>
                  <a:srgbClr val="222222"/>
                </a:solidFill>
                <a:latin typeface="Calibri"/>
                <a:ea typeface="맑은 고딕"/>
              </a:rPr>
              <a:t>한 iteration의 GPU compute = 수십 ms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444444"/>
                </a:solidFill>
                <a:latin typeface="Calibri"/>
                <a:ea typeface="맑은 고딕"/>
              </a:rPr>
              <a:t>▸ </a:t>
            </a:r>
            <a:r>
              <a:rPr sz="1300" b="0" i="0">
                <a:solidFill>
                  <a:srgbClr val="222222"/>
                </a:solidFill>
                <a:latin typeface="Calibri"/>
                <a:ea typeface="맑은 고딕"/>
              </a:rPr>
              <a:t>Capacity layer I/O = 수백 ms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444444"/>
                </a:solidFill>
                <a:latin typeface="Calibri"/>
                <a:ea typeface="맑은 고딕"/>
              </a:rPr>
              <a:t>▸ </a:t>
            </a:r>
            <a:r>
              <a:rPr sz="1300" b="0" i="0">
                <a:solidFill>
                  <a:srgbClr val="222222"/>
                </a:solidFill>
                <a:latin typeface="Calibri"/>
                <a:ea typeface="맑은 고딕"/>
              </a:rPr>
              <a:t>다음 layer의 KV load와 overlap 해도 시간 차가 너무 큼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444444"/>
                </a:solidFill>
                <a:latin typeface="Calibri"/>
                <a:ea typeface="맑은 고딕"/>
              </a:rPr>
              <a:t>▸ </a:t>
            </a:r>
            <a:r>
              <a:rPr sz="1300" b="0" i="0">
                <a:solidFill>
                  <a:srgbClr val="222222"/>
                </a:solidFill>
                <a:latin typeface="Calibri"/>
                <a:ea typeface="맑은 고딕"/>
              </a:rPr>
              <a:t>naive overlap은 “다음 토큰 1개를 기다리며 GPU가 또 idle”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4937760"/>
            <a:ext cx="11247120" cy="1463040"/>
          </a:xfrm>
          <a:prstGeom prst="rect">
            <a:avLst/>
          </a:prstGeom>
          <a:solidFill>
            <a:srgbClr val="FFFFFF"/>
          </a:solidFill>
          <a:ln w="6350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029200"/>
            <a:ext cx="10972800" cy="12801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 i="0">
                <a:solidFill>
                  <a:srgbClr val="222222"/>
                </a:solidFill>
                <a:latin typeface="Calibri"/>
                <a:ea typeface="맑은 고딕"/>
              </a:rPr>
              <a:t>설계 목표 — </a:t>
            </a:r>
            <a:r>
              <a:rPr sz="1600" b="0" i="0">
                <a:solidFill>
                  <a:srgbClr val="222222"/>
                </a:solidFill>
                <a:latin typeface="Calibri"/>
                <a:ea typeface="맑은 고딕"/>
              </a:rPr>
              <a:t>느린 I/O 요청이 빠른 I/O 요청을 막지 않게 하면서, </a:t>
            </a:r>
            <a:r>
              <a:rPr sz="1600" b="1" i="0">
                <a:solidFill>
                  <a:srgbClr val="444444"/>
                </a:solidFill>
                <a:latin typeface="Calibri"/>
                <a:ea typeface="맑은 고딕"/>
              </a:rPr>
              <a:t>큰 KV 요청도 starvation 없이 진행시킨다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6537960"/>
            <a:ext cx="11277295" cy="0"/>
          </a:xfrm>
          <a:prstGeom prst="line">
            <a:avLst/>
          </a:prstGeom>
          <a:ln w="12700">
            <a:solidFill>
              <a:srgbClr val="D5D9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6539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707680"/>
                </a:solidFill>
                <a:latin typeface="Calibri"/>
                <a:ea typeface="맑은 고딕"/>
              </a:rPr>
              <a:t>Bidaw — FAST '26 paper seminar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62895" y="6565392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707680"/>
                </a:solidFill>
                <a:latin typeface="Calibri"/>
                <a:ea typeface="맑은 고딕"/>
              </a:rPr>
              <a:t>16 / 30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7772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707680"/>
                </a:solidFill>
                <a:latin typeface="Calibri"/>
                <a:ea typeface="맑은 고딕"/>
              </a:rPr>
              <a:t>MECHANISM 1 / 3</a:t>
            </a:r>
          </a:p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1F2937"/>
                </a:solidFill>
                <a:latin typeface="Calibri"/>
                <a:ea typeface="맑은 고딕"/>
              </a:rPr>
              <a:t>I/O-aware scheduling — Dual queue + disk-HRRN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143000"/>
            <a:ext cx="11277295" cy="0"/>
          </a:xfrm>
          <a:prstGeom prst="line">
            <a:avLst/>
          </a:prstGeom>
          <a:ln w="9525">
            <a:solidFill>
              <a:srgbClr val="D5D9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457200" y="1188720"/>
            <a:ext cx="5669280" cy="5120640"/>
          </a:xfrm>
          <a:prstGeom prst="rect">
            <a:avLst/>
          </a:prstGeom>
          <a:solidFill>
            <a:srgbClr val="FFFFFF"/>
          </a:solidFill>
          <a:ln w="6350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5303520" cy="4937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1F2937"/>
                </a:solidFill>
                <a:latin typeface="Calibri"/>
                <a:ea typeface="맑은 고딕"/>
              </a:rPr>
              <a:t>Dual queue</a:t>
            </a:r>
          </a:p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222222"/>
                </a:solidFill>
                <a:latin typeface="Calibri"/>
                <a:ea typeface="맑은 고딕"/>
              </a:rPr>
              <a:t>Ready queue</a:t>
            </a:r>
          </a:p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707680"/>
                </a:solidFill>
                <a:latin typeface="Calibri"/>
                <a:ea typeface="맑은 고딕"/>
              </a:rPr>
              <a:t>KV가 perf layer에 있는 요청 — FCFS, GPU에 즉시 dispatch</a:t>
            </a:r>
          </a:p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222222"/>
                </a:solidFill>
                <a:latin typeface="Calibri"/>
                <a:ea typeface="맑은 고딕"/>
              </a:rPr>
              <a:t>Preparing queue</a:t>
            </a:r>
          </a:p>
          <a:p>
            <a:pPr algn="l">
              <a:spcAft>
                <a:spcPts val="1000"/>
              </a:spcAft>
            </a:pPr>
            <a:r>
              <a:rPr sz="1300" b="0" i="0">
                <a:solidFill>
                  <a:srgbClr val="707680"/>
                </a:solidFill>
                <a:latin typeface="Calibri"/>
                <a:ea typeface="맑은 고딕"/>
              </a:rPr>
              <a:t>KV가 capacity layer에 있는 요청 — 백그라운드로 perf layer로 끌어올림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222222"/>
                </a:solidFill>
                <a:latin typeface="Calibri"/>
                <a:ea typeface="맑은 고딕"/>
              </a:rPr>
              <a:t>promotion 시 </a:t>
            </a:r>
            <a:r>
              <a:rPr sz="1300" b="1" i="0">
                <a:solidFill>
                  <a:srgbClr val="444444"/>
                </a:solidFill>
                <a:latin typeface="Calibri"/>
                <a:ea typeface="맑은 고딕"/>
              </a:rPr>
              <a:t>원래 도착 시각을 유지</a:t>
            </a:r>
            <a:r>
              <a:rPr sz="1300" b="0" i="0">
                <a:solidFill>
                  <a:srgbClr val="222222"/>
                </a:solidFill>
                <a:latin typeface="Calibri"/>
                <a:ea typeface="맑은 고딕"/>
              </a:rPr>
              <a:t>해 tail latency 폭주를 방지</a:t>
            </a:r>
          </a:p>
        </p:txBody>
      </p:sp>
      <p:sp>
        <p:nvSpPr>
          <p:cNvPr id="6" name="Rectangle 5"/>
          <p:cNvSpPr/>
          <p:nvPr/>
        </p:nvSpPr>
        <p:spPr>
          <a:xfrm>
            <a:off x="6309360" y="1188720"/>
            <a:ext cx="5394960" cy="5120640"/>
          </a:xfrm>
          <a:prstGeom prst="rect">
            <a:avLst/>
          </a:prstGeom>
          <a:solidFill>
            <a:srgbClr val="FFFFFF"/>
          </a:solidFill>
          <a:ln w="6350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0" y="1280160"/>
            <a:ext cx="5029200" cy="4937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1F2937"/>
                </a:solidFill>
                <a:latin typeface="Calibri"/>
                <a:ea typeface="맑은 고딕"/>
              </a:rPr>
              <a:t>disk-HRRN  (preparing queue 정렬)</a:t>
            </a:r>
          </a:p>
          <a:p>
            <a:pPr algn="l">
              <a:spcAft>
                <a:spcPts val="1000"/>
              </a:spcAft>
            </a:pPr>
            <a:r>
              <a:rPr sz="1600" b="0" i="0">
                <a:solidFill>
                  <a:srgbClr val="222222"/>
                </a:solidFill>
                <a:latin typeface="Consolas"/>
                <a:ea typeface="맑은 고딕"/>
              </a:rPr>
              <a:t>Response ratio = 1 + (Request waiting time) / (KV size)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444444"/>
                </a:solidFill>
                <a:latin typeface="Calibri"/>
                <a:ea typeface="맑은 고딕"/>
              </a:rPr>
              <a:t>▸ </a:t>
            </a:r>
            <a:r>
              <a:rPr sz="1300" b="0" i="0">
                <a:solidFill>
                  <a:srgbClr val="222222"/>
                </a:solidFill>
                <a:latin typeface="Calibri"/>
                <a:ea typeface="맑은 고딕"/>
              </a:rPr>
              <a:t>작은 KV 먼저 </a:t>
            </a:r>
            <a:r>
              <a:rPr sz="1300" b="1" i="0">
                <a:solidFill>
                  <a:srgbClr val="222222"/>
                </a:solidFill>
                <a:latin typeface="Calibri"/>
                <a:ea typeface="맑은 고딕"/>
              </a:rPr>
              <a:t>→ ready queue 로 빨리 promote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444444"/>
                </a:solidFill>
                <a:latin typeface="Calibri"/>
                <a:ea typeface="맑은 고딕"/>
              </a:rPr>
              <a:t>▸ </a:t>
            </a:r>
            <a:r>
              <a:rPr sz="1300" b="0" i="0">
                <a:solidFill>
                  <a:srgbClr val="222222"/>
                </a:solidFill>
                <a:latin typeface="Calibri"/>
                <a:ea typeface="맑은 고딕"/>
              </a:rPr>
              <a:t>waiting↑ 시 </a:t>
            </a:r>
            <a:r>
              <a:rPr sz="1300" b="1" i="0">
                <a:solidFill>
                  <a:srgbClr val="222222"/>
                </a:solidFill>
                <a:latin typeface="Calibri"/>
                <a:ea typeface="맑은 고딕"/>
              </a:rPr>
              <a:t>큰 KV 도 promote (기아 방지)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444444"/>
                </a:solidFill>
                <a:latin typeface="Calibri"/>
                <a:ea typeface="맑은 고딕"/>
              </a:rPr>
              <a:t>▸ </a:t>
            </a:r>
            <a:r>
              <a:rPr sz="1300" b="0" i="0">
                <a:solidFill>
                  <a:srgbClr val="222222"/>
                </a:solidFill>
                <a:latin typeface="Calibri"/>
                <a:ea typeface="맑은 고딕"/>
              </a:rPr>
              <a:t>classical HRRN 의 </a:t>
            </a:r>
            <a:r>
              <a:rPr sz="1300" b="1" i="0">
                <a:solidFill>
                  <a:srgbClr val="222222"/>
                </a:solidFill>
                <a:latin typeface="Calibri"/>
                <a:ea typeface="맑은 고딕"/>
              </a:rPr>
              <a:t>I/O time ≈ KV size 변형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6537960"/>
            <a:ext cx="11277295" cy="0"/>
          </a:xfrm>
          <a:prstGeom prst="line">
            <a:avLst/>
          </a:prstGeom>
          <a:ln w="12700">
            <a:solidFill>
              <a:srgbClr val="D5D9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57200" y="656539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707680"/>
                </a:solidFill>
                <a:latin typeface="Calibri"/>
                <a:ea typeface="맑은 고딕"/>
              </a:rPr>
              <a:t>Bidaw — FAST '26 paper seminar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62895" y="6565392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707680"/>
                </a:solidFill>
                <a:latin typeface="Calibri"/>
                <a:ea typeface="맑은 고딕"/>
              </a:rPr>
              <a:t>17 / 30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7772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707680"/>
                </a:solidFill>
                <a:latin typeface="Calibri"/>
                <a:ea typeface="맑은 고딕"/>
              </a:rPr>
              <a:t>MECHANISM 1 / 3</a:t>
            </a:r>
          </a:p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1F2937"/>
                </a:solidFill>
                <a:latin typeface="Calibri"/>
                <a:ea typeface="맑은 고딕"/>
              </a:rPr>
              <a:t>동작 예시 — GPU idle을 어떻게 없애는가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143000"/>
            <a:ext cx="11277295" cy="0"/>
          </a:xfrm>
          <a:prstGeom prst="line">
            <a:avLst/>
          </a:prstGeom>
          <a:ln w="9525">
            <a:solidFill>
              <a:srgbClr val="D5D9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figure_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1581" y="1188720"/>
            <a:ext cx="6106438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806440"/>
            <a:ext cx="73152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1">
                <a:solidFill>
                  <a:srgbClr val="707680"/>
                </a:solidFill>
                <a:latin typeface="Calibri"/>
                <a:ea typeface="맑은 고딕"/>
              </a:rPr>
              <a:t>Figure 11. (a) FCFS vs (b) I/O-aware scheduling 의 timeline 비교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1280160"/>
            <a:ext cx="3931920" cy="5029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1F2937"/>
                </a:solidFill>
                <a:latin typeface="Calibri"/>
                <a:ea typeface="맑은 고딕"/>
              </a:rPr>
              <a:t>(a) FCFS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222222"/>
                </a:solidFill>
                <a:latin typeface="Calibri"/>
                <a:ea typeface="맑은 고딕"/>
              </a:rPr>
              <a:t>req 1, 2 (큰 capacity-layer KV)가 머리에서 대기 →</a:t>
            </a:r>
          </a:p>
          <a:p>
            <a:pPr algn="l">
              <a:spcAft>
                <a:spcPts val="1000"/>
              </a:spcAft>
            </a:pPr>
            <a:r>
              <a:rPr sz="1300" b="0" i="1">
                <a:solidFill>
                  <a:srgbClr val="444444"/>
                </a:solidFill>
                <a:latin typeface="Calibri"/>
                <a:ea typeface="맑은 고딕"/>
              </a:rPr>
              <a:t>GPU와 perf-layer I/O 가 모두 idle</a:t>
            </a:r>
          </a:p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1F2937"/>
                </a:solidFill>
                <a:latin typeface="Calibri"/>
                <a:ea typeface="맑은 고딕"/>
              </a:rPr>
              <a:t>(b) I/O-aware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222222"/>
                </a:solidFill>
                <a:latin typeface="Calibri"/>
                <a:ea typeface="맑은 고딕"/>
              </a:rPr>
              <a:t>req 3, 4, 5 (perf-layer hit) 먼저 GPU로 → 그 사이 req 2 가 promote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222222"/>
                </a:solidFill>
                <a:latin typeface="Calibri"/>
                <a:ea typeface="맑은 고딕"/>
              </a:rPr>
              <a:t>큐잉 시간 평균 </a:t>
            </a:r>
            <a:r>
              <a:rPr sz="1300" b="1" i="0">
                <a:solidFill>
                  <a:srgbClr val="444444"/>
                </a:solidFill>
                <a:latin typeface="Calibri"/>
                <a:ea typeface="맑은 고딕"/>
              </a:rPr>
              <a:t>5.76s → 2.45s (-57.5%)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6537960"/>
            <a:ext cx="11277295" cy="0"/>
          </a:xfrm>
          <a:prstGeom prst="line">
            <a:avLst/>
          </a:prstGeom>
          <a:ln w="12700">
            <a:solidFill>
              <a:srgbClr val="D5D9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57200" y="656539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707680"/>
                </a:solidFill>
                <a:latin typeface="Calibri"/>
                <a:ea typeface="맑은 고딕"/>
              </a:rPr>
              <a:t>Bidaw — FAST '26 paper seminar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62895" y="6565392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707680"/>
                </a:solidFill>
                <a:latin typeface="Calibri"/>
                <a:ea typeface="맑은 고딕"/>
              </a:rPr>
              <a:t>18 / 30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7772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707680"/>
                </a:solidFill>
                <a:latin typeface="Calibri"/>
                <a:ea typeface="맑은 고딕"/>
              </a:rPr>
              <a:t>MECHANISM 2 / 3</a:t>
            </a:r>
          </a:p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1F2937"/>
                </a:solidFill>
                <a:latin typeface="Calibri"/>
                <a:ea typeface="맑은 고딕"/>
              </a:rPr>
              <a:t>Mechanism 2 핵심 관찰 — 답변 길이 ↔ 다음 reuse distance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143000"/>
            <a:ext cx="11277295" cy="0"/>
          </a:xfrm>
          <a:prstGeom prst="line">
            <a:avLst/>
          </a:prstGeom>
          <a:ln w="9525">
            <a:solidFill>
              <a:srgbClr val="D5D9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figure_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0566" y="1188720"/>
            <a:ext cx="10060387" cy="32918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4526280"/>
            <a:ext cx="1124712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1">
                <a:solidFill>
                  <a:srgbClr val="707680"/>
                </a:solidFill>
                <a:latin typeface="Calibri"/>
                <a:ea typeface="맑은 고딕"/>
              </a:rPr>
              <a:t>Figure 12. Hour 별로 답변 길이(가로축) vs 다음 KV access의 reuse distance(세로축). 빨간 라인 = 하한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47120" cy="16459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1F2937"/>
                </a:solidFill>
                <a:latin typeface="Calibri"/>
                <a:ea typeface="맑은 고딕"/>
              </a:rPr>
              <a:t>정의 — Weighted reuse distance</a:t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222222"/>
                </a:solidFill>
                <a:latin typeface="Calibri"/>
                <a:ea typeface="맑은 고딕"/>
              </a:rPr>
              <a:t>현재 access ↔ 다음 access 사이에 접근되는 다른 KV 의 </a:t>
            </a:r>
            <a:r>
              <a:rPr sz="1300" b="1" i="0">
                <a:solidFill>
                  <a:srgbClr val="222222"/>
                </a:solidFill>
                <a:latin typeface="Calibri"/>
                <a:ea typeface="맑은 고딕"/>
              </a:rPr>
              <a:t>총 byte 합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222222"/>
                </a:solidFill>
                <a:latin typeface="Calibri"/>
                <a:ea typeface="맑은 고딕"/>
              </a:rPr>
              <a:t>관찰 — 답변이 길수록 사용자가 다음 질문을 늦게 보낸다 → 그 사이 다른 사용자 KV가 끼어들어 reuse distance 하한이 </a:t>
            </a:r>
            <a:r>
              <a:rPr sz="1300" b="1" i="0">
                <a:solidFill>
                  <a:srgbClr val="444444"/>
                </a:solidFill>
                <a:latin typeface="Calibri"/>
                <a:ea typeface="맑은 고딕"/>
              </a:rPr>
              <a:t>단조 증가 (Spearman ρ = 0.94 ~ 0.98)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6537960"/>
            <a:ext cx="11277295" cy="0"/>
          </a:xfrm>
          <a:prstGeom prst="line">
            <a:avLst/>
          </a:prstGeom>
          <a:ln w="12700">
            <a:solidFill>
              <a:srgbClr val="D5D9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57200" y="656539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707680"/>
                </a:solidFill>
                <a:latin typeface="Calibri"/>
                <a:ea typeface="맑은 고딕"/>
              </a:rPr>
              <a:t>Bidaw — FAST '26 paper seminar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62895" y="6565392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707680"/>
                </a:solidFill>
                <a:latin typeface="Calibri"/>
                <a:ea typeface="맑은 고딕"/>
              </a:rPr>
              <a:t>19 / 30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7772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707680"/>
                </a:solidFill>
                <a:latin typeface="Calibri"/>
                <a:ea typeface="맑은 고딕"/>
              </a:rPr>
              <a:t>MECHANISM 2 / 3</a:t>
            </a:r>
          </a:p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1F2937"/>
                </a:solidFill>
                <a:latin typeface="Calibri"/>
                <a:ea typeface="맑은 고딕"/>
              </a:rPr>
              <a:t>그러나 큰 reuse distance 라고 무조건 미스가 아니다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143000"/>
            <a:ext cx="11277295" cy="0"/>
          </a:xfrm>
          <a:prstGeom prst="line">
            <a:avLst/>
          </a:prstGeom>
          <a:ln w="9525">
            <a:solidFill>
              <a:srgbClr val="D5D9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figure_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6858000" cy="277812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4012565"/>
            <a:ext cx="68580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1">
                <a:solidFill>
                  <a:srgbClr val="707680"/>
                </a:solidFill>
                <a:latin typeface="Calibri"/>
                <a:ea typeface="맑은 고딕"/>
              </a:rPr>
              <a:t>Figure 13. Reuse distance 구간별 hit rate (Optimal vs FIFO/LRU/Q-enh)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89520" y="1280160"/>
            <a:ext cx="4389120" cy="5029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1F2937"/>
                </a:solidFill>
                <a:latin typeface="Calibri"/>
                <a:ea typeface="맑은 고딕"/>
              </a:rPr>
              <a:t>세 영역으로 분할</a:t>
            </a:r>
          </a:p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222222"/>
                </a:solidFill>
                <a:latin typeface="Calibri"/>
                <a:ea typeface="맑은 고딕"/>
              </a:rPr>
              <a:t>Small  (&lt; perf layer size)</a:t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707680"/>
                </a:solidFill>
                <a:latin typeface="Calibri"/>
                <a:ea typeface="맑은 고딕"/>
              </a:rPr>
              <a:t>어떤 정책이든 hit ≈ 1.0</a:t>
            </a:r>
          </a:p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444444"/>
                </a:solidFill>
                <a:latin typeface="Calibri"/>
                <a:ea typeface="맑은 고딕"/>
              </a:rPr>
              <a:t>Promising  (중간 영역)</a:t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707680"/>
                </a:solidFill>
                <a:latin typeface="Calibri"/>
                <a:ea typeface="맑은 고딕"/>
              </a:rPr>
              <a:t>Optimal(Belady)은 100% 가까이 유지하지만 LRU는 0~40% 수준</a:t>
            </a:r>
          </a:p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222222"/>
                </a:solidFill>
                <a:latin typeface="Calibri"/>
                <a:ea typeface="맑은 고딕"/>
              </a:rPr>
              <a:t>Extreme  (440 GB+)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707680"/>
                </a:solidFill>
                <a:latin typeface="Calibri"/>
                <a:ea typeface="맑은 고딕"/>
              </a:rPr>
              <a:t>Optimal도 hit ≈ 0 — eviction 후보 1순위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4572000"/>
            <a:ext cx="7132320" cy="1828800"/>
          </a:xfrm>
          <a:prstGeom prst="rect">
            <a:avLst/>
          </a:prstGeom>
          <a:solidFill>
            <a:srgbClr val="FFFFFF"/>
          </a:solidFill>
          <a:ln w="6350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4663440"/>
            <a:ext cx="6766560" cy="1645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222222"/>
                </a:solidFill>
                <a:latin typeface="Calibri"/>
                <a:ea typeface="맑은 고딕"/>
              </a:rPr>
              <a:t>교훈 — distance만 보고 evict하면 promising 구간을 잃는다.
</a:t>
            </a:r>
            <a:r>
              <a:rPr sz="1300" b="0" i="0">
                <a:solidFill>
                  <a:srgbClr val="222222"/>
                </a:solidFill>
                <a:latin typeface="Calibri"/>
                <a:ea typeface="맑은 고딕"/>
              </a:rPr>
              <a:t>Optimal과의 격차를 좁히려면 </a:t>
            </a:r>
            <a:r>
              <a:rPr sz="1300" b="1" i="0">
                <a:solidFill>
                  <a:srgbClr val="444444"/>
                </a:solidFill>
                <a:latin typeface="Calibri"/>
                <a:ea typeface="맑은 고딕"/>
              </a:rPr>
              <a:t>구간별 hit 확률을 모델링</a:t>
            </a:r>
            <a:r>
              <a:rPr sz="1300" b="0" i="0">
                <a:solidFill>
                  <a:srgbClr val="222222"/>
                </a:solidFill>
                <a:latin typeface="Calibri"/>
                <a:ea typeface="맑은 고딕"/>
              </a:rPr>
              <a:t>해야 한다.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6537960"/>
            <a:ext cx="11277295" cy="0"/>
          </a:xfrm>
          <a:prstGeom prst="line">
            <a:avLst/>
          </a:prstGeom>
          <a:ln w="12700">
            <a:solidFill>
              <a:srgbClr val="D5D9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6539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707680"/>
                </a:solidFill>
                <a:latin typeface="Calibri"/>
                <a:ea typeface="맑은 고딕"/>
              </a:rPr>
              <a:t>Bidaw — FAST '26 paper seminar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62895" y="6565392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707680"/>
                </a:solidFill>
                <a:latin typeface="Calibri"/>
                <a:ea typeface="맑은 고딕"/>
              </a:rPr>
              <a:t>20 / 30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7772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707680"/>
                </a:solidFill>
                <a:latin typeface="Calibri"/>
                <a:ea typeface="맑은 고딕"/>
              </a:rPr>
              <a:t>MECHANISM 2 / 3</a:t>
            </a:r>
          </a:p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1F2937"/>
                </a:solidFill>
                <a:latin typeface="Calibri"/>
                <a:ea typeface="맑은 고딕"/>
              </a:rPr>
              <a:t>Eviction 알고리즘 — Ghost cache + bucket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143000"/>
            <a:ext cx="11277295" cy="0"/>
          </a:xfrm>
          <a:prstGeom prst="line">
            <a:avLst/>
          </a:prstGeom>
          <a:ln w="9525">
            <a:solidFill>
              <a:srgbClr val="D5D9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457200" y="1280160"/>
            <a:ext cx="64008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200" b="1" i="0">
                <a:solidFill>
                  <a:srgbClr val="707680"/>
                </a:solidFill>
                <a:latin typeface="Calibri"/>
                <a:ea typeface="맑은 고딕"/>
              </a:rPr>
              <a:t>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1325880"/>
            <a:ext cx="1051560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222222"/>
                </a:solidFill>
                <a:latin typeface="Calibri"/>
                <a:ea typeface="맑은 고딕"/>
              </a:rPr>
              <a:t>Promising 영역을 m개 fine-grained bucket으로 분할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057400"/>
            <a:ext cx="64008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200" b="1" i="0">
                <a:solidFill>
                  <a:srgbClr val="707680"/>
                </a:solidFill>
                <a:latin typeface="Calibri"/>
                <a:ea typeface="맑은 고딕"/>
              </a:rPr>
              <a:t>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2103120"/>
            <a:ext cx="1051560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222222"/>
                </a:solidFill>
                <a:latin typeface="Calibri"/>
                <a:ea typeface="맑은 고딕"/>
              </a:rPr>
              <a:t>각 bucket의 hit rate를 ghost cache 위에서 Belady 시뮬레이션으로 측정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834640"/>
            <a:ext cx="64008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200" b="1" i="0">
                <a:solidFill>
                  <a:srgbClr val="707680"/>
                </a:solidFill>
                <a:latin typeface="Calibri"/>
                <a:ea typeface="맑은 고딕"/>
              </a:rPr>
              <a:t>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880360"/>
            <a:ext cx="1051560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222222"/>
                </a:solidFill>
                <a:latin typeface="Calibri"/>
                <a:ea typeface="맑은 고딕"/>
              </a:rPr>
              <a:t>사용자별 과거 KV access 분포로 다음 access가 각 bucket에 떨어질 확률을 추정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611880"/>
            <a:ext cx="64008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200" b="1" i="0">
                <a:solidFill>
                  <a:srgbClr val="707680"/>
                </a:solidFill>
                <a:latin typeface="Calibri"/>
                <a:ea typeface="맑은 고딕"/>
              </a:rPr>
              <a:t>④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3657600"/>
            <a:ext cx="1051560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222222"/>
                </a:solidFill>
                <a:latin typeface="Calibri"/>
                <a:ea typeface="맑은 고딕"/>
              </a:rPr>
              <a:t>Compute가 넘긴 답변 길이로 reuse distance 하한을 결정 → 더 작은 bucket의 확률을 0으로 truncate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4389120"/>
            <a:ext cx="64008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200" b="1" i="0">
                <a:solidFill>
                  <a:srgbClr val="707680"/>
                </a:solidFill>
                <a:latin typeface="Calibri"/>
                <a:ea typeface="맑은 고딕"/>
              </a:rPr>
              <a:t>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4434840"/>
            <a:ext cx="1051560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222222"/>
                </a:solidFill>
                <a:latin typeface="Calibri"/>
                <a:ea typeface="맑은 고딕"/>
              </a:rPr>
              <a:t>Equation 2 로 overall hit potential 계산 → 가장 낮은 KV evict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57200" y="6537960"/>
            <a:ext cx="11277295" cy="0"/>
          </a:xfrm>
          <a:prstGeom prst="line">
            <a:avLst/>
          </a:prstGeom>
          <a:ln w="12700">
            <a:solidFill>
              <a:srgbClr val="D5D9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457200" y="656539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707680"/>
                </a:solidFill>
                <a:latin typeface="Calibri"/>
                <a:ea typeface="맑은 고딕"/>
              </a:rPr>
              <a:t>Bidaw — FAST '26 paper seminar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62895" y="6565392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707680"/>
                </a:solidFill>
                <a:latin typeface="Calibri"/>
                <a:ea typeface="맑은 고딕"/>
              </a:rPr>
              <a:t>21 / 30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7772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707680"/>
                </a:solidFill>
                <a:latin typeface="Calibri"/>
                <a:ea typeface="맑은 고딕"/>
              </a:rPr>
              <a:t>MECHANISM 2 / 3</a:t>
            </a:r>
          </a:p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1F2937"/>
                </a:solidFill>
                <a:latin typeface="Calibri"/>
                <a:ea typeface="맑은 고딕"/>
              </a:rPr>
              <a:t>Eviction 결정식 — Overall hit potential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143000"/>
            <a:ext cx="11277295" cy="0"/>
          </a:xfrm>
          <a:prstGeom prst="line">
            <a:avLst/>
          </a:prstGeom>
          <a:ln w="9525">
            <a:solidFill>
              <a:srgbClr val="D5D9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457200" y="1371600"/>
            <a:ext cx="11247120" cy="1463040"/>
          </a:xfrm>
          <a:prstGeom prst="rect">
            <a:avLst/>
          </a:prstGeom>
          <a:solidFill>
            <a:srgbClr val="FFFFFF"/>
          </a:solidFill>
          <a:ln w="6350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63040"/>
            <a:ext cx="10972800" cy="12801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 i="0">
                <a:solidFill>
                  <a:srgbClr val="222222"/>
                </a:solidFill>
                <a:latin typeface="Consolas"/>
                <a:ea typeface="맑은 고딕"/>
              </a:rPr>
              <a:t>Overall_potential = prob_small · 1.0  +  prob_extreme · 0.0  +  Σᵢ prob_promising(i) · hit_promising(i)</a:t>
            </a:r>
          </a:p>
          <a:p>
            <a:pPr algn="ctr">
              <a:spcAft>
                <a:spcPts val="400"/>
              </a:spcAft>
            </a:pPr>
            <a:r>
              <a:rPr sz="1200" b="0" i="1">
                <a:solidFill>
                  <a:srgbClr val="707680"/>
                </a:solidFill>
                <a:latin typeface="Calibri"/>
                <a:ea typeface="맑은 고딕"/>
              </a:rPr>
              <a:t>Equation (2). 가장 낮은 hit potential을 가진 KV를 evict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200400"/>
            <a:ext cx="109728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444444"/>
                </a:solidFill>
                <a:latin typeface="Calibri"/>
                <a:ea typeface="맑은 고딕"/>
              </a:rPr>
              <a:t>▸  </a:t>
            </a:r>
            <a:r>
              <a:rPr sz="1300" b="1" i="0">
                <a:solidFill>
                  <a:srgbClr val="1F2937"/>
                </a:solidFill>
                <a:latin typeface="Consolas"/>
                <a:ea typeface="맑은 고딕"/>
              </a:rPr>
              <a:t>prob_small</a:t>
            </a:r>
            <a:r>
              <a:rPr sz="1300" b="0" i="0">
                <a:solidFill>
                  <a:srgbClr val="222222"/>
                </a:solidFill>
                <a:latin typeface="Calibri"/>
                <a:ea typeface="맑은 고딕"/>
              </a:rPr>
              <a:t>    </a:t>
            </a:r>
            <a:r>
              <a:rPr sz="1300" b="0" i="0">
                <a:solidFill>
                  <a:srgbClr val="222222"/>
                </a:solidFill>
                <a:latin typeface="Calibri"/>
                <a:ea typeface="맑은 고딕"/>
              </a:rPr>
              <a:t>다음 access가 perf layer 안쪽으로 들어옴 — hit 확률 1.0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840480"/>
            <a:ext cx="109728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444444"/>
                </a:solidFill>
                <a:latin typeface="Calibri"/>
                <a:ea typeface="맑은 고딕"/>
              </a:rPr>
              <a:t>▸  </a:t>
            </a:r>
            <a:r>
              <a:rPr sz="1300" b="1" i="0">
                <a:solidFill>
                  <a:srgbClr val="1F2937"/>
                </a:solidFill>
                <a:latin typeface="Consolas"/>
                <a:ea typeface="맑은 고딕"/>
              </a:rPr>
              <a:t>prob_promising(i)</a:t>
            </a:r>
            <a:r>
              <a:rPr sz="1300" b="0" i="0">
                <a:solidFill>
                  <a:srgbClr val="222222"/>
                </a:solidFill>
                <a:latin typeface="Calibri"/>
                <a:ea typeface="맑은 고딕"/>
              </a:rPr>
              <a:t>    </a:t>
            </a:r>
            <a:r>
              <a:rPr sz="1300" b="0" i="0">
                <a:solidFill>
                  <a:srgbClr val="222222"/>
                </a:solidFill>
                <a:latin typeface="Calibri"/>
                <a:ea typeface="맑은 고딕"/>
              </a:rPr>
              <a:t>promising bucket i 에 떨어질 확률 (m개)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480560"/>
            <a:ext cx="109728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444444"/>
                </a:solidFill>
                <a:latin typeface="Calibri"/>
                <a:ea typeface="맑은 고딕"/>
              </a:rPr>
              <a:t>▸  </a:t>
            </a:r>
            <a:r>
              <a:rPr sz="1300" b="1" i="0">
                <a:solidFill>
                  <a:srgbClr val="1F2937"/>
                </a:solidFill>
                <a:latin typeface="Consolas"/>
                <a:ea typeface="맑은 고딕"/>
              </a:rPr>
              <a:t>hit_promising(i)</a:t>
            </a:r>
            <a:r>
              <a:rPr sz="1300" b="0" i="0">
                <a:solidFill>
                  <a:srgbClr val="222222"/>
                </a:solidFill>
                <a:latin typeface="Calibri"/>
                <a:ea typeface="맑은 고딕"/>
              </a:rPr>
              <a:t>    </a:t>
            </a:r>
            <a:r>
              <a:rPr sz="1300" b="0" i="0">
                <a:solidFill>
                  <a:srgbClr val="222222"/>
                </a:solidFill>
                <a:latin typeface="Calibri"/>
                <a:ea typeface="맑은 고딕"/>
              </a:rPr>
              <a:t>ghost cache의 Belady 시뮬레이션이 알려주는 i bucket의 hit rate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120640"/>
            <a:ext cx="109728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444444"/>
                </a:solidFill>
                <a:latin typeface="Calibri"/>
                <a:ea typeface="맑은 고딕"/>
              </a:rPr>
              <a:t>▸  </a:t>
            </a:r>
            <a:r>
              <a:rPr sz="1300" b="1" i="0">
                <a:solidFill>
                  <a:srgbClr val="1F2937"/>
                </a:solidFill>
                <a:latin typeface="Consolas"/>
                <a:ea typeface="맑은 고딕"/>
              </a:rPr>
              <a:t>prob_extreme</a:t>
            </a:r>
            <a:r>
              <a:rPr sz="1300" b="0" i="0">
                <a:solidFill>
                  <a:srgbClr val="222222"/>
                </a:solidFill>
                <a:latin typeface="Calibri"/>
                <a:ea typeface="맑은 고딕"/>
              </a:rPr>
              <a:t>    </a:t>
            </a:r>
            <a:r>
              <a:rPr sz="1300" b="0" i="0">
                <a:solidFill>
                  <a:srgbClr val="222222"/>
                </a:solidFill>
                <a:latin typeface="Calibri"/>
                <a:ea typeface="맑은 고딕"/>
              </a:rPr>
              <a:t>perf layer로 영원히 안 돌아옴 — hit 확률 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5852160"/>
            <a:ext cx="11247120" cy="640080"/>
          </a:xfrm>
          <a:prstGeom prst="rect">
            <a:avLst/>
          </a:prstGeom>
          <a:solidFill>
            <a:srgbClr val="FFFFFF"/>
          </a:solidFill>
          <a:ln w="6350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7280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222222"/>
                </a:solidFill>
                <a:latin typeface="Calibri"/>
                <a:ea typeface="맑은 고딕"/>
              </a:rPr>
              <a:t>Note. Ghost cache는 백그라운드에서 Belady 시뮬레이션을 수행 — eviction 결정 단계에는 </a:t>
            </a:r>
            <a:r>
              <a:rPr sz="1200" b="1" i="0">
                <a:solidFill>
                  <a:srgbClr val="444444"/>
                </a:solidFill>
                <a:latin typeface="Calibri"/>
                <a:ea typeface="맑은 고딕"/>
              </a:rPr>
              <a:t>0.35 ms</a:t>
            </a:r>
            <a:r>
              <a:rPr sz="1200" b="0" i="0">
                <a:solidFill>
                  <a:srgbClr val="222222"/>
                </a:solidFill>
                <a:latin typeface="Calibri"/>
                <a:ea typeface="맑은 고딕"/>
              </a:rPr>
              <a:t>만 추가 (자세한 비교는 평가 슬라이드에서)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57200" y="6537960"/>
            <a:ext cx="11277295" cy="0"/>
          </a:xfrm>
          <a:prstGeom prst="line">
            <a:avLst/>
          </a:prstGeom>
          <a:ln w="12700">
            <a:solidFill>
              <a:srgbClr val="D5D9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457200" y="656539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707680"/>
                </a:solidFill>
                <a:latin typeface="Calibri"/>
                <a:ea typeface="맑은 고딕"/>
              </a:rPr>
              <a:t>Bidaw — FAST '26 paper seminar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62895" y="6565392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707680"/>
                </a:solidFill>
                <a:latin typeface="Calibri"/>
                <a:ea typeface="맑은 고딕"/>
              </a:rPr>
              <a:t>22 / 30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7772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707680"/>
                </a:solidFill>
                <a:latin typeface="Calibri"/>
                <a:ea typeface="맑은 고딕"/>
              </a:rPr>
              <a:t>MECHANISM 3 / 3</a:t>
            </a:r>
          </a:p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1F2937"/>
                </a:solidFill>
                <a:latin typeface="Calibri"/>
                <a:ea typeface="맑은 고딕"/>
              </a:rPr>
              <a:t>Mechanism 3 — 어떤 tensor를 캐시할 것인가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143000"/>
            <a:ext cx="11277295" cy="0"/>
          </a:xfrm>
          <a:prstGeom prst="line">
            <a:avLst/>
          </a:prstGeom>
          <a:ln w="9525">
            <a:solidFill>
              <a:srgbClr val="D5D9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figure_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6858000" cy="405915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293590"/>
            <a:ext cx="68580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1">
                <a:solidFill>
                  <a:srgbClr val="707680"/>
                </a:solidFill>
                <a:latin typeface="Calibri"/>
                <a:ea typeface="맑은 고딕"/>
              </a:rPr>
              <a:t>Figure 14. (a) Tensor 별 size &amp; 절약 가능한 GFLOPs, (b) cost efficiency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89520" y="1280160"/>
            <a:ext cx="4389120" cy="5029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F2937"/>
                </a:solidFill>
                <a:latin typeface="Calibri"/>
                <a:ea typeface="맑은 고딕"/>
              </a:rPr>
              <a:t>왜 KV tensor가 최적이 아닌가</a:t>
            </a:r>
          </a:p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222222"/>
                </a:solidFill>
                <a:latin typeface="Calibri"/>
                <a:ea typeface="맑은 고딕"/>
              </a:rPr>
              <a:t>▸ KV tensor 는 attention 입력으로 </a:t>
            </a:r>
            <a:r>
              <a:rPr sz="1300" b="1" i="0">
                <a:solidFill>
                  <a:srgbClr val="222222"/>
                </a:solidFill>
                <a:latin typeface="Calibri"/>
                <a:ea typeface="맑은 고딕"/>
              </a:rPr>
              <a:t>필요하지만 size 가 큼</a:t>
            </a:r>
          </a:p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1F2937"/>
                </a:solidFill>
                <a:latin typeface="Calibri"/>
                <a:ea typeface="맑은 고딕"/>
              </a:rPr>
              <a:t>Cost Efficiency</a:t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222222"/>
                </a:solidFill>
                <a:latin typeface="Consolas"/>
                <a:ea typeface="맑은 고딕"/>
              </a:rPr>
              <a:t>= Saved compute / Required space  (GFLOPs/MB)</a:t>
            </a:r>
          </a:p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444444"/>
                </a:solidFill>
                <a:latin typeface="Calibri"/>
                <a:ea typeface="맑은 고딕"/>
              </a:rPr>
              <a:t>Tensor 6 (정규화된 activation)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222222"/>
                </a:solidFill>
                <a:latin typeface="Calibri"/>
                <a:ea typeface="맑은 고딕"/>
              </a:rPr>
              <a:t>▸ 51 GFLOPs/MB — KV tensor(30.5)의 1.67×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222222"/>
                </a:solidFill>
                <a:latin typeface="Calibri"/>
                <a:ea typeface="맑은 고딕"/>
              </a:rPr>
              <a:t>▸ KV tensor로 변환은 </a:t>
            </a:r>
            <a:r>
              <a:rPr sz="1300" b="1" i="0">
                <a:solidFill>
                  <a:srgbClr val="222222"/>
                </a:solidFill>
                <a:latin typeface="Calibri"/>
                <a:ea typeface="맑은 고딕"/>
              </a:rPr>
              <a:t>GPU 1 step</a:t>
            </a:r>
            <a:r>
              <a:rPr sz="1300" b="0" i="0">
                <a:solidFill>
                  <a:srgbClr val="222222"/>
                </a:solidFill>
                <a:latin typeface="Calibri"/>
                <a:ea typeface="맑은 고딕"/>
              </a:rPr>
              <a:t>이면 충분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6537960"/>
            <a:ext cx="11277295" cy="0"/>
          </a:xfrm>
          <a:prstGeom prst="line">
            <a:avLst/>
          </a:prstGeom>
          <a:ln w="12700">
            <a:solidFill>
              <a:srgbClr val="D5D9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57200" y="656539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707680"/>
                </a:solidFill>
                <a:latin typeface="Calibri"/>
                <a:ea typeface="맑은 고딕"/>
              </a:rPr>
              <a:t>Bidaw — FAST '26 paper seminar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62895" y="6565392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707680"/>
                </a:solidFill>
                <a:latin typeface="Calibri"/>
                <a:ea typeface="맑은 고딕"/>
              </a:rPr>
              <a:t>23 / 30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7772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707680"/>
                </a:solidFill>
                <a:latin typeface="Calibri"/>
                <a:ea typeface="맑은 고딕"/>
              </a:rPr>
              <a:t>MECHANISM 3 / 3</a:t>
            </a:r>
          </a:p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1F2937"/>
                </a:solidFill>
                <a:latin typeface="Calibri"/>
                <a:ea typeface="맑은 고딕"/>
              </a:rPr>
              <a:t>Storage-efficient tensor caching — 적용 범위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143000"/>
            <a:ext cx="11277295" cy="0"/>
          </a:xfrm>
          <a:prstGeom prst="line">
            <a:avLst/>
          </a:prstGeom>
          <a:ln w="9525">
            <a:solidFill>
              <a:srgbClr val="D5D9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457200" y="1188720"/>
            <a:ext cx="5669280" cy="5120640"/>
          </a:xfrm>
          <a:prstGeom prst="rect">
            <a:avLst/>
          </a:prstGeom>
          <a:solidFill>
            <a:srgbClr val="FFFFFF"/>
          </a:solidFill>
          <a:ln w="6350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5303520" cy="4937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1F2937"/>
                </a:solidFill>
                <a:latin typeface="Calibri"/>
                <a:ea typeface="맑은 고딕"/>
              </a:rPr>
              <a:t>MHA-based 모델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444444"/>
                </a:solidFill>
                <a:latin typeface="Calibri"/>
                <a:ea typeface="맑은 고딕"/>
              </a:rPr>
              <a:t>▸ </a:t>
            </a:r>
            <a:r>
              <a:rPr sz="1300" b="0" i="0">
                <a:solidFill>
                  <a:srgbClr val="222222"/>
                </a:solidFill>
                <a:latin typeface="Calibri"/>
                <a:ea typeface="맑은 고딕"/>
              </a:rPr>
              <a:t>Llama, Qwen, Bloom, OPT, Baichuan 등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444444"/>
                </a:solidFill>
                <a:latin typeface="Calibri"/>
                <a:ea typeface="맑은 고딕"/>
              </a:rPr>
              <a:t>▸ </a:t>
            </a:r>
            <a:r>
              <a:rPr sz="1300" b="0" i="0">
                <a:solidFill>
                  <a:srgbClr val="222222"/>
                </a:solidFill>
                <a:latin typeface="Calibri"/>
                <a:ea typeface="맑은 고딕"/>
              </a:rPr>
              <a:t>head 별 K, V 가 별도 → KV tensor가 큼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444444"/>
                </a:solidFill>
                <a:latin typeface="Calibri"/>
                <a:ea typeface="맑은 고딕"/>
              </a:rPr>
              <a:t>▸ </a:t>
            </a:r>
            <a:r>
              <a:rPr sz="1300" b="0" i="0">
                <a:solidFill>
                  <a:srgbClr val="222222"/>
                </a:solidFill>
                <a:latin typeface="Calibri"/>
                <a:ea typeface="맑은 고딕"/>
              </a:rPr>
              <a:t>Tensor 6 캐싱이 더 적은 공간으로 더 많은 compute를 절약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222222"/>
                </a:solidFill>
                <a:latin typeface="Calibri"/>
                <a:ea typeface="맑은 고딕"/>
              </a:rPr>
              <a:t>→ Bidaw에서는 </a:t>
            </a:r>
            <a:r>
              <a:rPr sz="1300" b="1" i="0">
                <a:solidFill>
                  <a:srgbClr val="444444"/>
                </a:solidFill>
                <a:latin typeface="Calibri"/>
                <a:ea typeface="맑은 고딕"/>
              </a:rPr>
              <a:t>tensor 6 를 캐시</a:t>
            </a:r>
          </a:p>
        </p:txBody>
      </p:sp>
      <p:sp>
        <p:nvSpPr>
          <p:cNvPr id="6" name="Rectangle 5"/>
          <p:cNvSpPr/>
          <p:nvPr/>
        </p:nvSpPr>
        <p:spPr>
          <a:xfrm>
            <a:off x="6309360" y="1188720"/>
            <a:ext cx="5394960" cy="5120640"/>
          </a:xfrm>
          <a:prstGeom prst="rect">
            <a:avLst/>
          </a:prstGeom>
          <a:solidFill>
            <a:srgbClr val="FFFFFF"/>
          </a:solidFill>
          <a:ln w="6350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0" y="1280160"/>
            <a:ext cx="5029200" cy="4937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1F2937"/>
                </a:solidFill>
                <a:latin typeface="Calibri"/>
                <a:ea typeface="맑은 고딕"/>
              </a:rPr>
              <a:t>GQA-based 모델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444444"/>
                </a:solidFill>
                <a:latin typeface="Calibri"/>
                <a:ea typeface="맑은 고딕"/>
              </a:rPr>
              <a:t>▸ </a:t>
            </a:r>
            <a:r>
              <a:rPr sz="1300" b="0" i="0">
                <a:solidFill>
                  <a:srgbClr val="222222"/>
                </a:solidFill>
                <a:latin typeface="Calibri"/>
                <a:ea typeface="맑은 고딕"/>
              </a:rPr>
              <a:t>여러 query head가 K, V를 공유 → KV tensor 자체가 작음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444444"/>
                </a:solidFill>
                <a:latin typeface="Calibri"/>
                <a:ea typeface="맑은 고딕"/>
              </a:rPr>
              <a:t>▸ </a:t>
            </a:r>
            <a:r>
              <a:rPr sz="1300" b="0" i="0">
                <a:solidFill>
                  <a:srgbClr val="222222"/>
                </a:solidFill>
                <a:latin typeface="Calibri"/>
                <a:ea typeface="맑은 고딕"/>
              </a:rPr>
              <a:t>tensor 6의 cost-efficiency 우위가 사라짐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222222"/>
                </a:solidFill>
                <a:latin typeface="Calibri"/>
                <a:ea typeface="맑은 고딕"/>
              </a:rPr>
              <a:t>→ GQA에서는 그냥 </a:t>
            </a:r>
            <a:r>
              <a:rPr sz="1300" b="1" i="0">
                <a:solidFill>
                  <a:srgbClr val="444444"/>
                </a:solidFill>
                <a:latin typeface="Calibri"/>
                <a:ea typeface="맑은 고딕"/>
              </a:rPr>
              <a:t>KV tensor를 캐시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6537960"/>
            <a:ext cx="11277295" cy="0"/>
          </a:xfrm>
          <a:prstGeom prst="line">
            <a:avLst/>
          </a:prstGeom>
          <a:ln w="12700">
            <a:solidFill>
              <a:srgbClr val="D5D9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57200" y="656539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707680"/>
                </a:solidFill>
                <a:latin typeface="Calibri"/>
                <a:ea typeface="맑은 고딕"/>
              </a:rPr>
              <a:t>Bidaw — FAST '26 paper seminar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62895" y="6565392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707680"/>
                </a:solidFill>
                <a:latin typeface="Calibri"/>
                <a:ea typeface="맑은 고딕"/>
              </a:rPr>
              <a:t>24 / 30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7772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707680"/>
                </a:solidFill>
                <a:latin typeface="Calibri"/>
                <a:ea typeface="맑은 고딕"/>
              </a:rPr>
              <a:t>IMPLEMENTATION</a:t>
            </a:r>
          </a:p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1F2937"/>
                </a:solidFill>
                <a:latin typeface="Calibri"/>
                <a:ea typeface="맑은 고딕"/>
              </a:rPr>
              <a:t>구현 노트 — vLLM 위에 얹는 세 가지 트릭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143000"/>
            <a:ext cx="11277295" cy="0"/>
          </a:xfrm>
          <a:prstGeom prst="line">
            <a:avLst/>
          </a:prstGeom>
          <a:ln w="9525">
            <a:solidFill>
              <a:srgbClr val="D5D9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457200" y="1188720"/>
            <a:ext cx="164592" cy="1005840"/>
          </a:xfrm>
          <a:prstGeom prst="rect">
            <a:avLst/>
          </a:prstGeom>
          <a:solidFill>
            <a:srgbClr val="44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234440"/>
            <a:ext cx="10789920" cy="10058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1F2937"/>
                </a:solidFill>
                <a:latin typeface="Calibri"/>
                <a:ea typeface="맑은 고딕"/>
              </a:rPr>
              <a:t>Continuous batching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222222"/>
                </a:solidFill>
                <a:latin typeface="Calibri"/>
                <a:ea typeface="맑은 고딕"/>
              </a:rPr>
              <a:t>조기 종료된 요청을 배치 안에서 즉시 release → 새 요청을 빠르게 admit (ORCA 류와 호환)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468880"/>
            <a:ext cx="164592" cy="1005840"/>
          </a:xfrm>
          <a:prstGeom prst="rect">
            <a:avLst/>
          </a:prstGeom>
          <a:solidFill>
            <a:srgbClr val="44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514600"/>
            <a:ext cx="10789920" cy="10058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1F2937"/>
                </a:solidFill>
                <a:latin typeface="Calibri"/>
                <a:ea typeface="맑은 고딕"/>
              </a:rPr>
              <a:t>Mix-grained PagedAttention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222222"/>
                </a:solidFill>
                <a:latin typeface="Calibri"/>
                <a:ea typeface="맑은 고딕"/>
              </a:rPr>
              <a:t>history/query 토큰은 256-token 큰 블록, response 토큰은 16-token 작은 블록 → CPU↔GPU 대역폭 활용 + 단편화 감소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3749040"/>
            <a:ext cx="164592" cy="1005840"/>
          </a:xfrm>
          <a:prstGeom prst="rect">
            <a:avLst/>
          </a:prstGeom>
          <a:solidFill>
            <a:srgbClr val="44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3794760"/>
            <a:ext cx="10789920" cy="10058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1F2937"/>
                </a:solidFill>
                <a:latin typeface="Calibri"/>
                <a:ea typeface="맑은 고딕"/>
              </a:rPr>
              <a:t>Low-priority CUDA stream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222222"/>
                </a:solidFill>
                <a:latin typeface="Calibri"/>
                <a:ea typeface="맑은 고딕"/>
              </a:rPr>
              <a:t>Storage-efficient tensor → KV tensor 변환을 별도 스트림에서 수행 → idle SM 활용, 본 추론 latency에 영향 없음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5029200"/>
            <a:ext cx="164592" cy="1005840"/>
          </a:xfrm>
          <a:prstGeom prst="rect">
            <a:avLst/>
          </a:prstGeom>
          <a:solidFill>
            <a:srgbClr val="44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5074920"/>
            <a:ext cx="10789920" cy="10058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1F2937"/>
                </a:solidFill>
                <a:latin typeface="Calibri"/>
                <a:ea typeface="맑은 고딕"/>
              </a:rPr>
              <a:t>Inclusive caching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222222"/>
                </a:solidFill>
                <a:latin typeface="Calibri"/>
                <a:ea typeface="맑은 고딕"/>
              </a:rPr>
              <a:t>Eviction 시 capacity layer에 이미 사본이 있어 큰 write 트래픽이 발생하지 않음 (FlashGen 류와 동일)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57200" y="6537960"/>
            <a:ext cx="11277295" cy="0"/>
          </a:xfrm>
          <a:prstGeom prst="line">
            <a:avLst/>
          </a:prstGeom>
          <a:ln w="12700">
            <a:solidFill>
              <a:srgbClr val="D5D9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457200" y="656539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707680"/>
                </a:solidFill>
                <a:latin typeface="Calibri"/>
                <a:ea typeface="맑은 고딕"/>
              </a:rPr>
              <a:t>Bidaw — FAST '26 paper seminar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62895" y="6565392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707680"/>
                </a:solidFill>
                <a:latin typeface="Calibri"/>
                <a:ea typeface="맑은 고딕"/>
              </a:rPr>
              <a:t>25 / 30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7772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707680"/>
                </a:solidFill>
                <a:latin typeface="Calibri"/>
                <a:ea typeface="맑은 고딕"/>
              </a:rPr>
              <a:t>EVALUATION</a:t>
            </a:r>
          </a:p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1F2937"/>
                </a:solidFill>
                <a:latin typeface="Calibri"/>
                <a:ea typeface="맑은 고딕"/>
              </a:rPr>
              <a:t>실험 환경 및 비교 대상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143000"/>
            <a:ext cx="11277295" cy="0"/>
          </a:xfrm>
          <a:prstGeom prst="line">
            <a:avLst/>
          </a:prstGeom>
          <a:ln w="9525">
            <a:solidFill>
              <a:srgbClr val="D5D9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457200" y="1188720"/>
            <a:ext cx="5669280" cy="5120640"/>
          </a:xfrm>
          <a:prstGeom prst="rect">
            <a:avLst/>
          </a:prstGeom>
          <a:solidFill>
            <a:srgbClr val="FFFFFF"/>
          </a:solidFill>
          <a:ln w="6350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5303520" cy="4937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F2937"/>
                </a:solidFill>
                <a:latin typeface="Calibri"/>
                <a:ea typeface="맑은 고딕"/>
              </a:rPr>
              <a:t>Hardware / Software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F2937"/>
                </a:solidFill>
                <a:latin typeface="Calibri"/>
                <a:ea typeface="맑은 고딕"/>
              </a:rPr>
              <a:t>GPU:  </a:t>
            </a:r>
            <a:r>
              <a:rPr sz="1300" b="0" i="0">
                <a:solidFill>
                  <a:srgbClr val="222222"/>
                </a:solidFill>
                <a:latin typeface="Calibri"/>
                <a:ea typeface="맑은 고딕"/>
              </a:rPr>
              <a:t>NVIDIA A800 80GB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F2937"/>
                </a:solidFill>
                <a:latin typeface="Calibri"/>
                <a:ea typeface="맑은 고딕"/>
              </a:rPr>
              <a:t>Host mem:  </a:t>
            </a:r>
            <a:r>
              <a:rPr sz="1300" b="0" i="0">
                <a:solidFill>
                  <a:srgbClr val="222222"/>
                </a:solidFill>
                <a:latin typeface="Calibri"/>
                <a:ea typeface="맑은 고딕"/>
              </a:rPr>
              <a:t>200 GB (perf layer)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F2937"/>
                </a:solidFill>
                <a:latin typeface="Calibri"/>
                <a:ea typeface="맑은 고딕"/>
              </a:rPr>
              <a:t>Storage:  </a:t>
            </a:r>
            <a:r>
              <a:rPr sz="1300" b="0" i="0">
                <a:solidFill>
                  <a:srgbClr val="222222"/>
                </a:solidFill>
                <a:latin typeface="Calibri"/>
                <a:ea typeface="맑은 고딕"/>
              </a:rPr>
              <a:t>RAID-5 over 4× SATA SSD, 1.5 GB/s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F2937"/>
                </a:solidFill>
                <a:latin typeface="Calibri"/>
                <a:ea typeface="맑은 고딕"/>
              </a:rPr>
              <a:t>PCIe:  </a:t>
            </a:r>
            <a:r>
              <a:rPr sz="1300" b="0" i="0">
                <a:solidFill>
                  <a:srgbClr val="222222"/>
                </a:solidFill>
                <a:latin typeface="Calibri"/>
                <a:ea typeface="맑은 고딕"/>
              </a:rPr>
              <a:t>Gen 4 (~30 GB/s)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F2937"/>
                </a:solidFill>
                <a:latin typeface="Calibri"/>
                <a:ea typeface="맑은 고딕"/>
              </a:rPr>
              <a:t>Models:  </a:t>
            </a:r>
            <a:r>
              <a:rPr sz="1300" b="0" i="0">
                <a:solidFill>
                  <a:srgbClr val="222222"/>
                </a:solidFill>
                <a:latin typeface="Calibri"/>
                <a:ea typeface="맑은 고딕"/>
              </a:rPr>
              <a:t>OPT-6.7B/13B/30B, Qwen-7B/14B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F2937"/>
                </a:solidFill>
                <a:latin typeface="Calibri"/>
                <a:ea typeface="맑은 고딕"/>
              </a:rPr>
              <a:t>Workloads:  </a:t>
            </a:r>
            <a:r>
              <a:rPr sz="1300" b="0" i="0">
                <a:solidFill>
                  <a:srgbClr val="222222"/>
                </a:solidFill>
                <a:latin typeface="Calibri"/>
                <a:ea typeface="맑은 고딕"/>
              </a:rPr>
              <a:t>자체 1M-round trace, ShareGPT (Poisson 시뮬)</a:t>
            </a:r>
          </a:p>
        </p:txBody>
      </p:sp>
      <p:sp>
        <p:nvSpPr>
          <p:cNvPr id="6" name="Rectangle 5"/>
          <p:cNvSpPr/>
          <p:nvPr/>
        </p:nvSpPr>
        <p:spPr>
          <a:xfrm>
            <a:off x="6309360" y="1188720"/>
            <a:ext cx="5394960" cy="5120640"/>
          </a:xfrm>
          <a:prstGeom prst="rect">
            <a:avLst/>
          </a:prstGeom>
          <a:solidFill>
            <a:srgbClr val="FFFFFF"/>
          </a:solidFill>
          <a:ln w="6350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0" y="1280160"/>
            <a:ext cx="5029200" cy="4937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F2937"/>
                </a:solidFill>
                <a:latin typeface="Calibri"/>
                <a:ea typeface="맑은 고딕"/>
              </a:rPr>
              <a:t>Baselines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444444"/>
                </a:solidFill>
                <a:latin typeface="Calibri"/>
                <a:ea typeface="맑은 고딕"/>
              </a:rPr>
              <a:t>▸ </a:t>
            </a:r>
            <a:r>
              <a:rPr sz="1300" b="1" i="0">
                <a:solidFill>
                  <a:srgbClr val="222222"/>
                </a:solidFill>
                <a:latin typeface="Calibri"/>
                <a:ea typeface="맑은 고딕"/>
              </a:rPr>
              <a:t>vLLM</a:t>
            </a:r>
            <a:r>
              <a:rPr sz="1200" b="0" i="0">
                <a:solidFill>
                  <a:srgbClr val="707680"/>
                </a:solidFill>
                <a:latin typeface="Calibri"/>
                <a:ea typeface="맑은 고딕"/>
              </a:rPr>
              <a:t>  Recompute (no KV caching)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444444"/>
                </a:solidFill>
                <a:latin typeface="Calibri"/>
                <a:ea typeface="맑은 고딕"/>
              </a:rPr>
              <a:t>▸ </a:t>
            </a:r>
            <a:r>
              <a:rPr sz="1300" b="1" i="0">
                <a:solidFill>
                  <a:srgbClr val="222222"/>
                </a:solidFill>
                <a:latin typeface="Calibri"/>
                <a:ea typeface="맑은 고딕"/>
              </a:rPr>
              <a:t>CachedAttention</a:t>
            </a:r>
            <a:r>
              <a:rPr sz="1200" b="0" i="0">
                <a:solidFill>
                  <a:srgbClr val="707680"/>
                </a:solidFill>
                <a:latin typeface="Calibri"/>
                <a:ea typeface="맑은 고딕"/>
              </a:rPr>
              <a:t>  Queue-enhanced LRU + 2-tier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444444"/>
                </a:solidFill>
                <a:latin typeface="Calibri"/>
                <a:ea typeface="맑은 고딕"/>
              </a:rPr>
              <a:t>▸ </a:t>
            </a:r>
            <a:r>
              <a:rPr sz="1300" b="1" i="0">
                <a:solidFill>
                  <a:srgbClr val="222222"/>
                </a:solidFill>
                <a:latin typeface="Calibri"/>
                <a:ea typeface="맑은 고딕"/>
              </a:rPr>
              <a:t>FlashGen</a:t>
            </a:r>
            <a:r>
              <a:rPr sz="1200" b="0" i="0">
                <a:solidFill>
                  <a:srgbClr val="707680"/>
                </a:solidFill>
                <a:latin typeface="Calibri"/>
                <a:ea typeface="맑은 고딕"/>
              </a:rPr>
              <a:t>  Inclusive caching + GPU-fit scheduling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444444"/>
                </a:solidFill>
                <a:latin typeface="Calibri"/>
                <a:ea typeface="맑은 고딕"/>
              </a:rPr>
              <a:t>▸ </a:t>
            </a:r>
            <a:r>
              <a:rPr sz="1300" b="1" i="0">
                <a:solidFill>
                  <a:srgbClr val="222222"/>
                </a:solidFill>
                <a:latin typeface="Calibri"/>
                <a:ea typeface="맑은 고딕"/>
              </a:rPr>
              <a:t>Optimal</a:t>
            </a:r>
            <a:r>
              <a:rPr sz="1200" b="0" i="0">
                <a:solidFill>
                  <a:srgbClr val="707680"/>
                </a:solidFill>
                <a:latin typeface="Calibri"/>
                <a:ea typeface="맑은 고딕"/>
              </a:rPr>
              <a:t>  All KVs in perf layer (upper bound)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444444"/>
                </a:solidFill>
                <a:latin typeface="Calibri"/>
                <a:ea typeface="맑은 고딕"/>
              </a:rPr>
              <a:t>▸ </a:t>
            </a:r>
            <a:r>
              <a:rPr sz="1300" b="1" i="0">
                <a:solidFill>
                  <a:srgbClr val="222222"/>
                </a:solidFill>
                <a:latin typeface="Calibri"/>
                <a:ea typeface="맑은 고딕"/>
              </a:rPr>
              <a:t>Bidaw</a:t>
            </a:r>
            <a:r>
              <a:rPr sz="1200" b="0" i="0">
                <a:solidFill>
                  <a:srgbClr val="707680"/>
                </a:solidFill>
                <a:latin typeface="Calibri"/>
                <a:ea typeface="맑은 고딕"/>
              </a:rPr>
              <a:t>  본 논문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6537960"/>
            <a:ext cx="11277295" cy="0"/>
          </a:xfrm>
          <a:prstGeom prst="line">
            <a:avLst/>
          </a:prstGeom>
          <a:ln w="12700">
            <a:solidFill>
              <a:srgbClr val="D5D9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57200" y="656539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707680"/>
                </a:solidFill>
                <a:latin typeface="Calibri"/>
                <a:ea typeface="맑은 고딕"/>
              </a:rPr>
              <a:t>Bidaw — FAST '26 paper seminar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62895" y="6565392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707680"/>
                </a:solidFill>
                <a:latin typeface="Calibri"/>
                <a:ea typeface="맑은 고딕"/>
              </a:rPr>
              <a:t>26 / 30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7772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707680"/>
                </a:solidFill>
                <a:latin typeface="Calibri"/>
                <a:ea typeface="맑은 고딕"/>
              </a:rPr>
              <a:t>EVALUATION</a:t>
            </a:r>
          </a:p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1F2937"/>
                </a:solidFill>
                <a:latin typeface="Calibri"/>
                <a:ea typeface="맑은 고딕"/>
              </a:rPr>
              <a:t>Overall performance — 5개 모델 동시 평가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143000"/>
            <a:ext cx="11277295" cy="0"/>
          </a:xfrm>
          <a:prstGeom prst="line">
            <a:avLst/>
          </a:prstGeom>
          <a:ln w="9525">
            <a:solidFill>
              <a:srgbClr val="D5D9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figure_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88720"/>
            <a:ext cx="11612880" cy="202463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74320" y="3259076"/>
            <a:ext cx="1161288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1">
                <a:solidFill>
                  <a:srgbClr val="707680"/>
                </a:solidFill>
                <a:latin typeface="Calibri"/>
                <a:ea typeface="맑은 고딕"/>
              </a:rPr>
              <a:t>Figure 15. 사용자 도착률 vs 평균 응답 latency, 5개 모델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937760"/>
            <a:ext cx="11247120" cy="1554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444444"/>
                </a:solidFill>
                <a:latin typeface="Calibri"/>
                <a:ea typeface="맑은 고딕"/>
              </a:rPr>
              <a:t>▸ </a:t>
            </a:r>
            <a:r>
              <a:rPr sz="1300" b="1" i="0">
                <a:solidFill>
                  <a:srgbClr val="222222"/>
                </a:solidFill>
                <a:latin typeface="Calibri"/>
                <a:ea typeface="맑은 고딕"/>
              </a:rPr>
              <a:t>Bidaw — 응답 latency </a:t>
            </a:r>
            <a:r>
              <a:rPr sz="1300" b="0" i="0">
                <a:solidFill>
                  <a:srgbClr val="222222"/>
                </a:solidFill>
                <a:latin typeface="Calibri"/>
                <a:ea typeface="맑은 고딕"/>
              </a:rPr>
              <a:t>최대 3.58× 감소 (vs CachedAttention/FlashGen)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444444"/>
                </a:solidFill>
                <a:latin typeface="Calibri"/>
                <a:ea typeface="맑은 고딕"/>
              </a:rPr>
              <a:t>▸ </a:t>
            </a:r>
            <a:r>
              <a:rPr sz="1300" b="1" i="0">
                <a:solidFill>
                  <a:srgbClr val="222222"/>
                </a:solidFill>
                <a:latin typeface="Calibri"/>
                <a:ea typeface="맑은 고딕"/>
              </a:rPr>
              <a:t>Bidaw — throughput </a:t>
            </a:r>
            <a:r>
              <a:rPr sz="1300" b="0" i="0">
                <a:solidFill>
                  <a:srgbClr val="222222"/>
                </a:solidFill>
                <a:latin typeface="Calibri"/>
                <a:ea typeface="맑은 고딕"/>
              </a:rPr>
              <a:t>1.43–1.83× 향상 (동일 latency 기준)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444444"/>
                </a:solidFill>
                <a:latin typeface="Calibri"/>
                <a:ea typeface="맑은 고딕"/>
              </a:rPr>
              <a:t>▸ </a:t>
            </a:r>
            <a:r>
              <a:rPr sz="1300" b="1" i="0">
                <a:solidFill>
                  <a:srgbClr val="222222"/>
                </a:solidFill>
                <a:latin typeface="Calibri"/>
                <a:ea typeface="맑은 고딕"/>
              </a:rPr>
              <a:t>Optimal과의 gap </a:t>
            </a:r>
            <a:r>
              <a:rPr sz="1300" b="0" i="0">
                <a:solidFill>
                  <a:srgbClr val="222222"/>
                </a:solidFill>
                <a:latin typeface="Calibri"/>
                <a:ea typeface="맑은 고딕"/>
              </a:rPr>
              <a:t>거의 없음 — perf-layer-only 수준에 근접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444444"/>
                </a:solidFill>
                <a:latin typeface="Calibri"/>
                <a:ea typeface="맑은 고딕"/>
              </a:rPr>
              <a:t>▸ </a:t>
            </a:r>
            <a:r>
              <a:rPr sz="1300" b="1" i="0">
                <a:solidFill>
                  <a:srgbClr val="222222"/>
                </a:solidFill>
                <a:latin typeface="Calibri"/>
                <a:ea typeface="맑은 고딕"/>
              </a:rPr>
              <a:t>Note </a:t>
            </a:r>
            <a:r>
              <a:rPr sz="1300" b="0" i="0">
                <a:solidFill>
                  <a:srgbClr val="222222"/>
                </a:solidFill>
                <a:latin typeface="Calibri"/>
                <a:ea typeface="맑은 고딕"/>
              </a:rPr>
              <a:t>Bidaw는 lossless — 답변 정확도는 FlashGen 등과 동일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6537960"/>
            <a:ext cx="11277295" cy="0"/>
          </a:xfrm>
          <a:prstGeom prst="line">
            <a:avLst/>
          </a:prstGeom>
          <a:ln w="12700">
            <a:solidFill>
              <a:srgbClr val="D5D9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57200" y="656539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707680"/>
                </a:solidFill>
                <a:latin typeface="Calibri"/>
                <a:ea typeface="맑은 고딕"/>
              </a:rPr>
              <a:t>Bidaw — FAST '26 paper seminar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62895" y="6565392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707680"/>
                </a:solidFill>
                <a:latin typeface="Calibri"/>
                <a:ea typeface="맑은 고딕"/>
              </a:rPr>
              <a:t>27 / 30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7772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707680"/>
                </a:solidFill>
                <a:latin typeface="Calibri"/>
                <a:ea typeface="맑은 고딕"/>
              </a:rPr>
              <a:t>EVALUATION</a:t>
            </a:r>
          </a:p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1F2937"/>
                </a:solidFill>
                <a:latin typeface="Calibri"/>
                <a:ea typeface="맑은 고딕"/>
              </a:rPr>
              <a:t>Memory sensitivity &amp; Eviction miss rate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143000"/>
            <a:ext cx="11277295" cy="0"/>
          </a:xfrm>
          <a:prstGeom prst="line">
            <a:avLst/>
          </a:prstGeom>
          <a:ln w="9525">
            <a:solidFill>
              <a:srgbClr val="D5D9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figure_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88720"/>
            <a:ext cx="6400800" cy="111594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74320" y="2350381"/>
            <a:ext cx="64008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1">
                <a:solidFill>
                  <a:srgbClr val="707680"/>
                </a:solidFill>
                <a:latin typeface="Calibri"/>
                <a:ea typeface="맑은 고딕"/>
              </a:rPr>
              <a:t>Figure 16. host memory 120–200GB 범위에서의 latency</a:t>
            </a:r>
          </a:p>
        </p:txBody>
      </p:sp>
      <p:pic>
        <p:nvPicPr>
          <p:cNvPr id="6" name="Picture 5" descr="figure_1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0" y="1188720"/>
            <a:ext cx="5029200" cy="233518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949440" y="3569629"/>
            <a:ext cx="50292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1">
                <a:solidFill>
                  <a:srgbClr val="707680"/>
                </a:solidFill>
                <a:latin typeface="Calibri"/>
                <a:ea typeface="맑은 고딕"/>
              </a:rPr>
              <a:t>Figure 18. (a) memory size · (b) workload pressure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023360"/>
            <a:ext cx="11247120" cy="24688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F2937"/>
                </a:solidFill>
                <a:latin typeface="Calibri"/>
                <a:ea typeface="맑은 고딕"/>
              </a:rPr>
              <a:t>Memory sensitivity (Fig. 16)</a:t>
            </a:r>
          </a:p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444444"/>
                </a:solidFill>
                <a:latin typeface="Calibri"/>
                <a:ea typeface="맑은 고딕"/>
              </a:rPr>
              <a:t>▸ </a:t>
            </a:r>
            <a:r>
              <a:rPr sz="1300" b="0" i="0">
                <a:solidFill>
                  <a:srgbClr val="222222"/>
                </a:solidFill>
                <a:latin typeface="Calibri"/>
                <a:ea typeface="맑은 고딕"/>
              </a:rPr>
              <a:t>host memory 120GB까지 줄여도 Bidaw는 baseline 200GB 수준의 latency</a:t>
            </a:r>
          </a:p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444444"/>
                </a:solidFill>
                <a:latin typeface="Calibri"/>
                <a:ea typeface="맑은 고딕"/>
              </a:rPr>
              <a:t>▸ </a:t>
            </a:r>
            <a:r>
              <a:rPr sz="1300" b="0" i="0">
                <a:solidFill>
                  <a:srgbClr val="222222"/>
                </a:solidFill>
                <a:latin typeface="Calibri"/>
                <a:ea typeface="맑은 고딕"/>
              </a:rPr>
              <a:t>1.75–2.19× 더 많은 사용자/분 지원 — 작은 메모리에서 격차가 더 벌어짐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F2937"/>
                </a:solidFill>
                <a:latin typeface="Calibri"/>
                <a:ea typeface="맑은 고딕"/>
              </a:rPr>
              <a:t>Eviction miss rate (Fig. 18)</a:t>
            </a:r>
          </a:p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444444"/>
                </a:solidFill>
                <a:latin typeface="Calibri"/>
                <a:ea typeface="맑은 고딕"/>
              </a:rPr>
              <a:t>▸ </a:t>
            </a:r>
            <a:r>
              <a:rPr sz="1300" b="0" i="0">
                <a:solidFill>
                  <a:srgbClr val="222222"/>
                </a:solidFill>
                <a:latin typeface="Calibri"/>
                <a:ea typeface="맑은 고딕"/>
              </a:rPr>
              <a:t>queue-enhanced (CachedAttention)</a:t>
            </a:r>
            <a:r>
              <a:rPr sz="1300" b="1" i="0">
                <a:solidFill>
                  <a:srgbClr val="222222"/>
                </a:solidFill>
                <a:latin typeface="Calibri"/>
                <a:ea typeface="맑은 고딕"/>
              </a:rPr>
              <a:t>  대비 -57.6% miss rate</a:t>
            </a:r>
          </a:p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444444"/>
                </a:solidFill>
                <a:latin typeface="Calibri"/>
                <a:ea typeface="맑은 고딕"/>
              </a:rPr>
              <a:t>▸ </a:t>
            </a:r>
            <a:r>
              <a:rPr sz="1300" b="0" i="0">
                <a:solidFill>
                  <a:srgbClr val="222222"/>
                </a:solidFill>
                <a:latin typeface="Calibri"/>
                <a:ea typeface="맑은 고딕"/>
              </a:rPr>
              <a:t>LFU/LRU/FIFO 일반 정책</a:t>
            </a:r>
            <a:r>
              <a:rPr sz="1300" b="1" i="0">
                <a:solidFill>
                  <a:srgbClr val="222222"/>
                </a:solidFill>
                <a:latin typeface="Calibri"/>
                <a:ea typeface="맑은 고딕"/>
              </a:rPr>
              <a:t>  대비 -69.9% miss rate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6537960"/>
            <a:ext cx="11277295" cy="0"/>
          </a:xfrm>
          <a:prstGeom prst="line">
            <a:avLst/>
          </a:prstGeom>
          <a:ln w="12700">
            <a:solidFill>
              <a:srgbClr val="D5D9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6539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707680"/>
                </a:solidFill>
                <a:latin typeface="Calibri"/>
                <a:ea typeface="맑은 고딕"/>
              </a:rPr>
              <a:t>Bidaw — FAST '26 paper seminar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62895" y="6565392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707680"/>
                </a:solidFill>
                <a:latin typeface="Calibri"/>
                <a:ea typeface="맑은 고딕"/>
              </a:rPr>
              <a:t>28 / 30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7772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707680"/>
                </a:solidFill>
                <a:latin typeface="Calibri"/>
                <a:ea typeface="맑은 고딕"/>
              </a:rPr>
              <a:t>EVALUATION</a:t>
            </a:r>
          </a:p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1F2937"/>
                </a:solidFill>
                <a:latin typeface="Calibri"/>
                <a:ea typeface="맑은 고딕"/>
              </a:rPr>
              <a:t>Tail latency · Ablation · Overhead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143000"/>
            <a:ext cx="11277295" cy="0"/>
          </a:xfrm>
          <a:prstGeom prst="line">
            <a:avLst/>
          </a:prstGeom>
          <a:ln w="9525">
            <a:solidFill>
              <a:srgbClr val="D5D9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figure_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216" y="1188720"/>
            <a:ext cx="4919808" cy="2743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74320" y="3977640"/>
            <a:ext cx="59436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1">
                <a:solidFill>
                  <a:srgbClr val="707680"/>
                </a:solidFill>
                <a:latin typeface="Calibri"/>
                <a:ea typeface="맑은 고딕"/>
              </a:rPr>
              <a:t>Figure 22. Tail latency P90 / P95 / P99 (OPT-30B)</a:t>
            </a:r>
          </a:p>
        </p:txBody>
      </p:sp>
      <p:pic>
        <p:nvPicPr>
          <p:cNvPr id="6" name="Picture 5" descr="figure_2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188720"/>
            <a:ext cx="2743200" cy="122302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0" y="2457463"/>
            <a:ext cx="27432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1">
                <a:solidFill>
                  <a:srgbClr val="707680"/>
                </a:solidFill>
                <a:latin typeface="Calibri"/>
                <a:ea typeface="맑은 고딕"/>
              </a:rPr>
              <a:t>Figure 21. Ablation</a:t>
            </a:r>
          </a:p>
        </p:txBody>
      </p:sp>
      <p:pic>
        <p:nvPicPr>
          <p:cNvPr id="8" name="Picture 7" descr="figure_2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6880" y="1188720"/>
            <a:ext cx="2651760" cy="93499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326880" y="2169435"/>
            <a:ext cx="265176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1">
                <a:solidFill>
                  <a:srgbClr val="707680"/>
                </a:solidFill>
                <a:latin typeface="Calibri"/>
                <a:ea typeface="맑은 고딕"/>
              </a:rPr>
              <a:t>Figure 20. Overhead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206240"/>
            <a:ext cx="11247120" cy="22860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444444"/>
                </a:solidFill>
                <a:latin typeface="Calibri"/>
                <a:ea typeface="맑은 고딕"/>
              </a:rPr>
              <a:t>▸ </a:t>
            </a:r>
            <a:r>
              <a:rPr sz="1300" b="1" i="0">
                <a:solidFill>
                  <a:srgbClr val="1F2937"/>
                </a:solidFill>
                <a:latin typeface="Calibri"/>
                <a:ea typeface="맑은 고딕"/>
              </a:rPr>
              <a:t>Tail latency</a:t>
            </a:r>
            <a:r>
              <a:rPr sz="1300" b="0" i="0">
                <a:solidFill>
                  <a:srgbClr val="222222"/>
                </a:solidFill>
                <a:latin typeface="Calibri"/>
                <a:ea typeface="맑은 고딕"/>
              </a:rPr>
              <a:t>    P90 −52.96% / P95 −49.30% / P99 −47.03% (vs CachedAttention)</a:t>
            </a:r>
          </a:p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444444"/>
                </a:solidFill>
                <a:latin typeface="Calibri"/>
                <a:ea typeface="맑은 고딕"/>
              </a:rPr>
              <a:t>▸ </a:t>
            </a:r>
            <a:r>
              <a:rPr sz="1300" b="1" i="0">
                <a:solidFill>
                  <a:srgbClr val="1F2937"/>
                </a:solidFill>
                <a:latin typeface="Calibri"/>
                <a:ea typeface="맑은 고딕"/>
              </a:rPr>
              <a:t>Ablation</a:t>
            </a:r>
            <a:r>
              <a:rPr sz="1300" b="0" i="0">
                <a:solidFill>
                  <a:srgbClr val="222222"/>
                </a:solidFill>
                <a:latin typeface="Calibri"/>
                <a:ea typeface="맑은 고딕"/>
              </a:rPr>
              <a:t>    Scheduling +1.58×, Eviction +1.25×, Tensor caching +1.10×</a:t>
            </a:r>
          </a:p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444444"/>
                </a:solidFill>
                <a:latin typeface="Calibri"/>
                <a:ea typeface="맑은 고딕"/>
              </a:rPr>
              <a:t>▸ </a:t>
            </a:r>
            <a:r>
              <a:rPr sz="1300" b="1" i="0">
                <a:solidFill>
                  <a:srgbClr val="1F2937"/>
                </a:solidFill>
                <a:latin typeface="Calibri"/>
                <a:ea typeface="맑은 고딕"/>
              </a:rPr>
              <a:t>Overhead</a:t>
            </a:r>
            <a:r>
              <a:rPr sz="1300" b="0" i="0">
                <a:solidFill>
                  <a:srgbClr val="222222"/>
                </a:solidFill>
                <a:latin typeface="Calibri"/>
                <a:ea typeface="맑은 고딕"/>
              </a:rPr>
              <a:t>    Scheduling 0.62 ms, Eviction 0.35 ms, KV transform &lt;0.1 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57200" y="6537960"/>
            <a:ext cx="11277295" cy="0"/>
          </a:xfrm>
          <a:prstGeom prst="line">
            <a:avLst/>
          </a:prstGeom>
          <a:ln w="12700">
            <a:solidFill>
              <a:srgbClr val="D5D9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457200" y="656539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707680"/>
                </a:solidFill>
                <a:latin typeface="Calibri"/>
                <a:ea typeface="맑은 고딕"/>
              </a:rPr>
              <a:t>Bidaw — FAST '26 paper seminar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62895" y="6565392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707680"/>
                </a:solidFill>
                <a:latin typeface="Calibri"/>
                <a:ea typeface="맑은 고딕"/>
              </a:rPr>
              <a:t>29 / 30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7772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707680"/>
                </a:solidFill>
                <a:latin typeface="Calibri"/>
                <a:ea typeface="맑은 고딕"/>
              </a:rPr>
              <a:t>CONCLUSION</a:t>
            </a:r>
          </a:p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1F2937"/>
                </a:solidFill>
                <a:latin typeface="Calibri"/>
                <a:ea typeface="맑은 고딕"/>
              </a:rPr>
              <a:t>정리 · 한계 · 시사점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143000"/>
            <a:ext cx="11277295" cy="0"/>
          </a:xfrm>
          <a:prstGeom prst="line">
            <a:avLst/>
          </a:prstGeom>
          <a:ln w="9525">
            <a:solidFill>
              <a:srgbClr val="D5D9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457200" y="1188720"/>
            <a:ext cx="3703320" cy="5120640"/>
          </a:xfrm>
          <a:prstGeom prst="rect">
            <a:avLst/>
          </a:prstGeom>
          <a:solidFill>
            <a:srgbClr val="FFFFFF"/>
          </a:solidFill>
          <a:ln w="6350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3337560" cy="4937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기여</a:t>
            </a:r>
          </a:p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444444"/>
                </a:solidFill>
                <a:latin typeface="Calibri"/>
                <a:ea typeface="맑은 고딕"/>
              </a:rPr>
              <a:t>▸ </a:t>
            </a:r>
            <a:r>
              <a:rPr sz="1200" b="0" i="0">
                <a:solidFill>
                  <a:srgbClr val="222222"/>
                </a:solidFill>
                <a:latin typeface="Calibri"/>
                <a:ea typeface="맑은 고딕"/>
              </a:rPr>
              <a:t>compute ↔ storage 양방향 정보 공유라는 새로운 설계 원칙 제시</a:t>
            </a:r>
          </a:p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444444"/>
                </a:solidFill>
                <a:latin typeface="Calibri"/>
                <a:ea typeface="맑은 고딕"/>
              </a:rPr>
              <a:t>▸ </a:t>
            </a:r>
            <a:r>
              <a:rPr sz="1200" b="0" i="0">
                <a:solidFill>
                  <a:srgbClr val="222222"/>
                </a:solidFill>
                <a:latin typeface="Calibri"/>
                <a:ea typeface="맑은 고딕"/>
              </a:rPr>
              <a:t>I/O-aware scheduling + previous-answer-based eviction의 두 메커니즘</a:t>
            </a:r>
          </a:p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444444"/>
                </a:solidFill>
                <a:latin typeface="Calibri"/>
                <a:ea typeface="맑은 고딕"/>
              </a:rPr>
              <a:t>▸ </a:t>
            </a:r>
            <a:r>
              <a:rPr sz="1200" b="0" i="0">
                <a:solidFill>
                  <a:srgbClr val="222222"/>
                </a:solidFill>
                <a:latin typeface="Calibri"/>
                <a:ea typeface="맑은 고딕"/>
              </a:rPr>
              <a:t>MHA에서 storage-efficient tensor 캐싱으로 공간/연산 trade-off</a:t>
            </a:r>
          </a:p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444444"/>
                </a:solidFill>
                <a:latin typeface="Calibri"/>
                <a:ea typeface="맑은 고딕"/>
              </a:rPr>
              <a:t>▸ </a:t>
            </a:r>
            <a:r>
              <a:rPr sz="1200" b="0" i="0">
                <a:solidFill>
                  <a:srgbClr val="222222"/>
                </a:solidFill>
                <a:latin typeface="Calibri"/>
                <a:ea typeface="맑은 고딕"/>
              </a:rPr>
              <a:t>5 모델 평균 3.58× latency / 1.83× throughput, optimal 근접</a:t>
            </a:r>
          </a:p>
        </p:txBody>
      </p:sp>
      <p:sp>
        <p:nvSpPr>
          <p:cNvPr id="6" name="Rectangle 5"/>
          <p:cNvSpPr/>
          <p:nvPr/>
        </p:nvSpPr>
        <p:spPr>
          <a:xfrm>
            <a:off x="4251960" y="1188720"/>
            <a:ext cx="3703320" cy="5120640"/>
          </a:xfrm>
          <a:prstGeom prst="rect">
            <a:avLst/>
          </a:prstGeom>
          <a:solidFill>
            <a:srgbClr val="FFFFFF"/>
          </a:solidFill>
          <a:ln w="6350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34840" y="1280160"/>
            <a:ext cx="3337560" cy="4937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한계</a:t>
            </a:r>
          </a:p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444444"/>
                </a:solidFill>
                <a:latin typeface="Calibri"/>
                <a:ea typeface="맑은 고딕"/>
              </a:rPr>
              <a:t>▸ </a:t>
            </a:r>
            <a:r>
              <a:rPr sz="1200" b="0" i="0">
                <a:solidFill>
                  <a:srgbClr val="222222"/>
                </a:solidFill>
                <a:latin typeface="Calibri"/>
                <a:ea typeface="맑은 고딕"/>
              </a:rPr>
              <a:t>단일 사용자 대화 안에서의 KV 재사용만 다룸 — cross-user 공유는 범위 밖</a:t>
            </a:r>
          </a:p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444444"/>
                </a:solidFill>
                <a:latin typeface="Calibri"/>
                <a:ea typeface="맑은 고딕"/>
              </a:rPr>
              <a:t>▸ </a:t>
            </a:r>
            <a:r>
              <a:rPr sz="1200" b="0" i="0">
                <a:solidFill>
                  <a:srgbClr val="222222"/>
                </a:solidFill>
                <a:latin typeface="Calibri"/>
                <a:ea typeface="맑은 고딕"/>
              </a:rPr>
              <a:t>GQA에서는 storage-efficient tensor 효과가 사라짐</a:t>
            </a:r>
          </a:p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444444"/>
                </a:solidFill>
                <a:latin typeface="Calibri"/>
                <a:ea typeface="맑은 고딕"/>
              </a:rPr>
              <a:t>▸ </a:t>
            </a:r>
            <a:r>
              <a:rPr sz="1200" b="0" i="0">
                <a:solidFill>
                  <a:srgbClr val="222222"/>
                </a:solidFill>
                <a:latin typeface="Calibri"/>
                <a:ea typeface="맑은 고딕"/>
              </a:rPr>
              <a:t>ShareGPT 류 timestamp 부재 trace에선 eviction 효과가 약화</a:t>
            </a:r>
          </a:p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444444"/>
                </a:solidFill>
                <a:latin typeface="Calibri"/>
                <a:ea typeface="맑은 고딕"/>
              </a:rPr>
              <a:t>▸ </a:t>
            </a:r>
            <a:r>
              <a:rPr sz="1200" b="0" i="0">
                <a:solidFill>
                  <a:srgbClr val="222222"/>
                </a:solidFill>
                <a:latin typeface="Calibri"/>
                <a:ea typeface="맑은 고딕"/>
              </a:rPr>
              <a:t>단일 GPU 노드 평가 — disaggregated/멀티노드는 future work</a:t>
            </a:r>
          </a:p>
        </p:txBody>
      </p:sp>
      <p:sp>
        <p:nvSpPr>
          <p:cNvPr id="8" name="Rectangle 7"/>
          <p:cNvSpPr/>
          <p:nvPr/>
        </p:nvSpPr>
        <p:spPr>
          <a:xfrm>
            <a:off x="8046720" y="1188720"/>
            <a:ext cx="3703320" cy="5120640"/>
          </a:xfrm>
          <a:prstGeom prst="rect">
            <a:avLst/>
          </a:prstGeom>
          <a:solidFill>
            <a:srgbClr val="FFFFFF"/>
          </a:solidFill>
          <a:ln w="6350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1280160"/>
            <a:ext cx="3337560" cy="4937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논의</a:t>
            </a:r>
          </a:p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444444"/>
                </a:solidFill>
                <a:latin typeface="Calibri"/>
                <a:ea typeface="맑은 고딕"/>
              </a:rPr>
              <a:t>▸ </a:t>
            </a:r>
            <a:r>
              <a:rPr sz="1200" b="0" i="0">
                <a:solidFill>
                  <a:srgbClr val="222222"/>
                </a:solidFill>
                <a:latin typeface="Calibri"/>
                <a:ea typeface="맑은 고딕"/>
              </a:rPr>
              <a:t>“대화 시스템”의 사람-속도가 storage 정책에 신호로 활용 가능하다</a:t>
            </a:r>
          </a:p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444444"/>
                </a:solidFill>
                <a:latin typeface="Calibri"/>
                <a:ea typeface="맑은 고딕"/>
              </a:rPr>
              <a:t>▸ </a:t>
            </a:r>
            <a:r>
              <a:rPr sz="1200" b="0" i="0">
                <a:solidFill>
                  <a:srgbClr val="222222"/>
                </a:solidFill>
                <a:latin typeface="Calibri"/>
                <a:ea typeface="맑은 고딕"/>
              </a:rPr>
              <a:t>고전 storage 기법(HRRN, Belady ghost cache)이 LLM에서 다시 빛난다</a:t>
            </a:r>
          </a:p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444444"/>
                </a:solidFill>
                <a:latin typeface="Calibri"/>
                <a:ea typeface="맑은 고딕"/>
              </a:rPr>
              <a:t>▸ </a:t>
            </a:r>
            <a:r>
              <a:rPr sz="1200" b="0" i="0">
                <a:solidFill>
                  <a:srgbClr val="222222"/>
                </a:solidFill>
                <a:latin typeface="Calibri"/>
                <a:ea typeface="맑은 고딕"/>
              </a:rPr>
              <a:t>ML serving + storage co-design 의 좋은 사례 — 후속 연구가 활발할 영역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57200" y="6537960"/>
            <a:ext cx="11277295" cy="0"/>
          </a:xfrm>
          <a:prstGeom prst="line">
            <a:avLst/>
          </a:prstGeom>
          <a:ln w="12700">
            <a:solidFill>
              <a:srgbClr val="D5D9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57200" y="656539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707680"/>
                </a:solidFill>
                <a:latin typeface="Calibri"/>
                <a:ea typeface="맑은 고딕"/>
              </a:rPr>
              <a:t>Bidaw — FAST '26 paper seminar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62895" y="6565392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707680"/>
                </a:solidFill>
                <a:latin typeface="Calibri"/>
                <a:ea typeface="맑은 고딕"/>
              </a:rPr>
              <a:t>30 / 30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